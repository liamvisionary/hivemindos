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0607040" y="457200"/>
            <a:ext cx="1280160" cy="1152144"/>
          </a:xfrm>
          <a:prstGeom prst="hexagon">
            <a:avLst/>
          </a:prstGeom>
          <a:noFill/>
          <a:ln w="1524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1430000" y="1188720"/>
            <a:ext cx="914400" cy="822960"/>
          </a:xfrm>
          <a:prstGeom prst="hexagon">
            <a:avLst/>
          </a:prstGeom>
          <a:noFill/>
          <a:ln w="1524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966960" y="1371600"/>
            <a:ext cx="731520" cy="658368"/>
          </a:xfrm>
          <a:prstGeom prst="hexagon">
            <a:avLst/>
          </a:prstGeom>
          <a:noFill/>
          <a:ln w="15240">
            <a:solidFill>
              <a:srgbClr val="1B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ivemindo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255686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6974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5F7FA"/>
                </a:solidFill>
                <a:latin typeface="Century Gothic"/>
              </a:rPr>
              <a:t>HivemindOS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576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5F7FA"/>
                </a:solidFill>
                <a:latin typeface="Calibri"/>
              </a:rPr>
              <a:t>The operating system for autonomous AI agents</a:t>
            </a:r>
          </a:p>
          <a:p>
            <a:pPr algn="l">
              <a:lnSpc>
                <a:spcPct val="112000"/>
              </a:lnSpc>
            </a:pPr>
            <a:r>
              <a:rPr sz="2300" b="1">
                <a:solidFill>
                  <a:srgbClr val="FFB024"/>
                </a:solidFill>
                <a:latin typeface="Calibri"/>
              </a:rPr>
              <a:t>— and the companies they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7B0"/>
                </a:solidFill>
                <a:latin typeface="Calibri"/>
              </a:rPr>
              <a:t>A private, local-first command center where a fleet of agents remembers, coordinates, ships, and transacts as one organism.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18A"/>
                </a:solidFill>
                <a:latin typeface="Consolas"/>
              </a:rPr>
              <a:t>Seed round  ·  Open source (MIT)  ·  github.com/LiamVisionary/hivemindos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Agents can do the work, not the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8A97B0"/>
                </a:solidFill>
                <a:latin typeface="Calibri"/>
              </a:rPr>
              <a:t>Models keep getting smarter. But a single agent still can't be trusted to run unattended, at scale, over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143000" y="2633472"/>
            <a:ext cx="457200" cy="411480"/>
          </a:xfrm>
          <a:prstGeom prst="hexagon">
            <a:avLst/>
          </a:prstGeom>
          <a:noFill/>
          <a:ln w="25400">
            <a:solidFill>
              <a:srgbClr val="FFB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5198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B024"/>
                </a:solidFill>
                <a:latin typeface="Century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Century Gothic"/>
              </a:rPr>
              <a:t>No shared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054096"/>
            <a:ext cx="3685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Every agent starts from a blank page. Context, decisions, and hard-won know-how don't persist or travel between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8600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6675120" y="2633472"/>
            <a:ext cx="457200" cy="411480"/>
          </a:xfrm>
          <a:prstGeom prst="hexagon">
            <a:avLst/>
          </a:prstGeom>
          <a:noFill/>
          <a:ln w="25400">
            <a:solidFill>
              <a:srgbClr val="FFB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5198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B024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9689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Century Gothic"/>
              </a:rPr>
              <a:t>No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54096"/>
            <a:ext cx="3685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Agents run in silos on scattered machines, with no safe way to see each other or work together as a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15968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143000" y="4663440"/>
            <a:ext cx="457200" cy="411480"/>
          </a:xfrm>
          <a:prstGeom prst="hexagon">
            <a:avLst/>
          </a:prstGeom>
          <a:noFill/>
          <a:ln w="25400">
            <a:solidFill>
              <a:srgbClr val="FFB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81956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B024"/>
                </a:solidFill>
                <a:latin typeface="Century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2686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Century Gothic"/>
              </a:rPr>
              <a:t>No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084064"/>
            <a:ext cx="3685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A chat transcript isn't an operating record. You can't gate spend, prove what shipped, or trust an unattended run.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315968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6675120" y="4663440"/>
            <a:ext cx="457200" cy="411480"/>
          </a:xfrm>
          <a:prstGeom prst="hexagon">
            <a:avLst/>
          </a:prstGeom>
          <a:noFill/>
          <a:ln w="25400">
            <a:solidFill>
              <a:srgbClr val="FFB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681956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B024"/>
                </a:solidFill>
                <a:latin typeface="Century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62686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Century Gothic"/>
              </a:rPr>
              <a:t>No economic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084064"/>
            <a:ext cx="3685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Agents can't hold a budget or pay for the tools, compute, and services they need to actually operate on their own.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One operating system for your whole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B0"/>
                </a:solidFill>
                <a:latin typeface="Calibri"/>
              </a:rPr>
              <a:t>HivemindOS turns scattered agents into a coordinated hive: connect machines over encrypted links with </a:t>
            </a:r>
            <a:r>
              <a:rPr sz="1400" b="1">
                <a:solidFill>
                  <a:srgbClr val="F5F7FA"/>
                </a:solidFill>
                <a:latin typeface="Calibri"/>
              </a:rPr>
              <a:t>no public ports</a:t>
            </a:r>
            <a:r>
              <a:rPr sz="1400" b="0">
                <a:solidFill>
                  <a:srgbClr val="8A97B0"/>
                </a:solidFill>
                <a:latin typeface="Calibri"/>
              </a:rPr>
              <a:t>, give them one </a:t>
            </a:r>
            <a:r>
              <a:rPr sz="1400" b="1">
                <a:solidFill>
                  <a:srgbClr val="35D9EE"/>
                </a:solidFill>
                <a:latin typeface="Calibri"/>
              </a:rPr>
              <a:t>shared brain</a:t>
            </a:r>
            <a:r>
              <a:rPr sz="1400" b="0">
                <a:solidFill>
                  <a:srgbClr val="8A97B0"/>
                </a:solidFill>
                <a:latin typeface="Calibri"/>
              </a:rPr>
              <a:t>, run </a:t>
            </a:r>
            <a:r>
              <a:rPr sz="1400" b="1">
                <a:solidFill>
                  <a:srgbClr val="F5F7FA"/>
                </a:solidFill>
                <a:latin typeface="Calibri"/>
              </a:rPr>
              <a:t>bounded autonomous loops</a:t>
            </a:r>
            <a:r>
              <a:rPr sz="1400" b="0">
                <a:solidFill>
                  <a:srgbClr val="8A97B0"/>
                </a:solidFill>
                <a:latin typeface="Calibri"/>
              </a:rPr>
              <a:t>, let them hold </a:t>
            </a:r>
            <a:r>
              <a:rPr sz="1400" b="1">
                <a:solidFill>
                  <a:srgbClr val="FFB024"/>
                </a:solidFill>
                <a:latin typeface="Calibri"/>
              </a:rPr>
              <a:t>wallets</a:t>
            </a:r>
            <a:r>
              <a:rPr sz="1400" b="0">
                <a:solidFill>
                  <a:srgbClr val="8A97B0"/>
                </a:solidFill>
                <a:latin typeface="Calibri"/>
              </a:rPr>
              <a:t>, and prove the code they 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97280" y="2770632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73405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Every agent across every machine — private by default, no public 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5146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983480" y="2770632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73405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Shared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227832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Durable memory, skills, and context in one shared Obsidian vault.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5146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8869680" y="2770632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73405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Looped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227832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Bounded autonomous loops with gates, receipts, and approvals.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70832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1097280" y="4626864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5902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Wallets &amp; Trading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8406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Agents hold budgets and transact within the limits you 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4370832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4983480" y="4626864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5902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Hive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08406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Turn any prompt into a reusable skill the whole fleet can use.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4370832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8869680" y="4626864"/>
            <a:ext cx="292608" cy="263347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45902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Code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084064"/>
            <a:ext cx="2990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Signed provenance for the code your agents actually 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428232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18A"/>
                </a:solidFill>
                <a:latin typeface="Calibri"/>
              </a:rPr>
              <a:t>Runtime-neutral: </a:t>
            </a:r>
            <a:r>
              <a:rPr sz="1100" b="0">
                <a:solidFill>
                  <a:srgbClr val="8A97B0"/>
                </a:solidFill>
                <a:latin typeface="Consolas"/>
              </a:rPr>
              <a:t>Hermes · OpenClaw · OpenCode · Codex · Claude Code · Aeon · Evo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THE FLAGSHIP  ·  ZERO HUMAN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F5F7FA"/>
                </a:solidFill>
                <a:latin typeface="Century Gothic"/>
              </a:rPr>
              <a:t>Your agents can run whole 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B0"/>
                </a:solidFill>
                <a:latin typeface="Calibri"/>
              </a:rPr>
              <a:t>A </a:t>
            </a:r>
            <a:r>
              <a:rPr sz="1400" b="1">
                <a:solidFill>
                  <a:srgbClr val="FFB024"/>
                </a:solidFill>
                <a:latin typeface="Calibri"/>
              </a:rPr>
              <a:t>Zero Human Company</a:t>
            </a:r>
            <a:r>
              <a:rPr sz="1400" b="0">
                <a:solidFill>
                  <a:srgbClr val="8A97B0"/>
                </a:solidFill>
                <a:latin typeface="Calibri"/>
              </a:rPr>
              <a:t> turns a business goal into an agent-run operating loop — a charter, a crew, budgets, and a kill switch. You own the high-trust calls: funding, policy, approvals. Agents carry the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87168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78992" y="2761488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780004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779776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Charter &amp; crew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6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An apex goal, a roster of agent roles, and a real org chart.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487168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965192" y="2761488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2780004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2779776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Autonomous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328416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Decompose the goal, dispatch to the crew, re-dispatch until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487168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8851392" y="2761488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2780004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779776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Treasury &amp; kill 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328416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Hard budgets, spend caps, and a one-switch freeze.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4340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1078992" y="4617720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36236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463600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Approvals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84648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Human sign-off on spend and any risky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434340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4965192" y="4617720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5192" y="4636236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463600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Outreach &amp; deliverables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184648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Real email threads and shipped products — not scratch files.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434340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8851392" y="4617720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636236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Century Goth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463600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Capability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184648"/>
            <a:ext cx="2990088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The company keeps its receipts, evals, and hard-won know-how.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TRUST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F5F7FA"/>
                </a:solidFill>
                <a:latin typeface="Century Gothic"/>
              </a:rPr>
              <a:t>Bounded autonomy, with a paper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B0"/>
                </a:solidFill>
                <a:latin typeface="Calibri"/>
              </a:rPr>
              <a:t>The opposite of a black box. Every loop has a </a:t>
            </a:r>
            <a:r>
              <a:rPr sz="1400" b="1">
                <a:solidFill>
                  <a:srgbClr val="F5F7FA"/>
                </a:solidFill>
                <a:latin typeface="Calibri"/>
              </a:rPr>
              <a:t>contract, gates, receipts, and human handoffs</a:t>
            </a:r>
            <a:r>
              <a:rPr sz="1400" b="0">
                <a:solidFill>
                  <a:srgbClr val="8A97B0"/>
                </a:solidFill>
                <a:latin typeface="Calibri"/>
              </a:rPr>
              <a:t> — and every action is attributed to the agent that took it. You raise autonomy only as the evidence earns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alibri"/>
              </a:rPr>
              <a:t>READINESS LADDER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024128" y="3054096"/>
            <a:ext cx="402336" cy="36210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070390"/>
            <a:ext cx="402336" cy="3621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E1A"/>
                </a:solidFill>
                <a:latin typeface="Century Gothic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4480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Setup — pieces exist, no proven loop yet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1024128" y="3831335"/>
            <a:ext cx="402336" cy="36210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847630"/>
            <a:ext cx="402336" cy="3621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E1A"/>
                </a:solidFill>
                <a:latin typeface="Century Gothic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03320"/>
            <a:ext cx="4480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7FA"/>
                </a:solidFill>
                <a:latin typeface="Calibri"/>
              </a:rPr>
              <a:t>Report-only — human-reviewed runs &amp; dry runs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59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1024128" y="4608575"/>
            <a:ext cx="402336" cy="36210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624870"/>
            <a:ext cx="402336" cy="3621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E1A"/>
                </a:solidFill>
                <a:latin typeface="Century Gothic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0559"/>
            <a:ext cx="4480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7FA"/>
                </a:solidFill>
                <a:latin typeface="Calibri"/>
              </a:rPr>
              <a:t>Assisted — contracts + eval gates, human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57799"/>
            <a:ext cx="5394960" cy="658368"/>
          </a:xfrm>
          <a:prstGeom prst="roundRect">
            <a:avLst>
              <a:gd name="adj" fmla="val 10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1024128" y="5385815"/>
            <a:ext cx="402336" cy="36210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402110"/>
            <a:ext cx="402336" cy="3621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E1A"/>
                </a:solidFill>
                <a:latin typeface="Century Gothic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57799"/>
            <a:ext cx="4480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B024"/>
                </a:solidFill>
                <a:latin typeface="Calibri"/>
              </a:rPr>
              <a:t>Bounded unattended — gates, receipts, budgets, handoffs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514600"/>
            <a:ext cx="4846320" cy="3611880"/>
          </a:xfrm>
          <a:prstGeom prst="roundRect">
            <a:avLst>
              <a:gd name="adj" fmla="val 4000"/>
            </a:avLst>
          </a:prstGeom>
          <a:solidFill>
            <a:srgbClr val="0D1222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7432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alibri"/>
              </a:rPr>
              <a:t>EVERY LOOP CARRIES</a:t>
            </a:r>
          </a:p>
        </p:txBody>
      </p:sp>
      <p:sp>
        <p:nvSpPr>
          <p:cNvPr id="26" name="Hexagon 25"/>
          <p:cNvSpPr/>
          <p:nvPr/>
        </p:nvSpPr>
        <p:spPr>
          <a:xfrm>
            <a:off x="6812280" y="3273551"/>
            <a:ext cx="182880" cy="16459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3218688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Explicit success criteria &amp; done contract</a:t>
            </a:r>
          </a:p>
        </p:txBody>
      </p:sp>
      <p:sp>
        <p:nvSpPr>
          <p:cNvPr id="28" name="Hexagon 27"/>
          <p:cNvSpPr/>
          <p:nvPr/>
        </p:nvSpPr>
        <p:spPr>
          <a:xfrm>
            <a:off x="6812280" y="3840480"/>
            <a:ext cx="182880" cy="16459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3785615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Eval gates and verification receipts</a:t>
            </a:r>
          </a:p>
        </p:txBody>
      </p:sp>
      <p:sp>
        <p:nvSpPr>
          <p:cNvPr id="30" name="Hexagon 29"/>
          <p:cNvSpPr/>
          <p:nvPr/>
        </p:nvSpPr>
        <p:spPr>
          <a:xfrm>
            <a:off x="6812280" y="4407408"/>
            <a:ext cx="182880" cy="16459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4352544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Retry, runtime, and spend budgets</a:t>
            </a:r>
          </a:p>
        </p:txBody>
      </p:sp>
      <p:sp>
        <p:nvSpPr>
          <p:cNvPr id="32" name="Hexagon 31"/>
          <p:cNvSpPr/>
          <p:nvPr/>
        </p:nvSpPr>
        <p:spPr>
          <a:xfrm>
            <a:off x="6812280" y="4974336"/>
            <a:ext cx="182880" cy="16459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8" y="491947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Human gates for risky spend or actions</a:t>
            </a:r>
          </a:p>
        </p:txBody>
      </p:sp>
      <p:sp>
        <p:nvSpPr>
          <p:cNvPr id="34" name="Hexagon 33"/>
          <p:cNvSpPr/>
          <p:nvPr/>
        </p:nvSpPr>
        <p:spPr>
          <a:xfrm>
            <a:off x="6812280" y="5541264"/>
            <a:ext cx="182880" cy="164592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548640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Full attribution — who did what, and why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COMPOUNDING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F5F7FA"/>
                </a:solidFill>
                <a:latin typeface="Century Gothic"/>
              </a:rPr>
              <a:t>The hive gets smarter and cheaper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97280" y="2011680"/>
            <a:ext cx="365760" cy="329184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Century Gothic"/>
              </a:rPr>
              <a:t>Hive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2990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Turns a messy prompt into a reusable SKILL.md built from the hive's real agents, apps, and tools — saved to the shared brain.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8308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4983480" y="2011680"/>
            <a:ext cx="365760" cy="329184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9339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Century Gothic"/>
              </a:rPr>
              <a:t>Evo &amp;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542032"/>
            <a:ext cx="2990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Benchmark-driven optimization runs and multi-agent tournaments with credited lineage push quality up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78308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8869680" y="2011680"/>
            <a:ext cx="365760" cy="329184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99339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Century Gothic"/>
              </a:rPr>
              <a:t>Shared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542032"/>
            <a:ext cx="2990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Targeted brain recall replaces blank-page context, so the fleet stops paying to rediscover what it already knows.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10515600" cy="1874519"/>
          </a:xfrm>
          <a:prstGeom prst="roundRect">
            <a:avLst>
              <a:gd name="adj" fmla="val 4000"/>
            </a:avLst>
          </a:prstGeom>
          <a:solidFill>
            <a:srgbClr val="0D1222"/>
          </a:solidFill>
          <a:ln w="15240">
            <a:solidFill>
              <a:srgbClr val="FFB0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70832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B024"/>
                </a:solidFill>
                <a:latin typeface="Century Gothic"/>
              </a:rPr>
              <a:t>99.2%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Calibri"/>
              </a:rPr>
              <a:t>fewer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5262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A97B0"/>
                </a:solidFill>
                <a:latin typeface="Calibri"/>
              </a:rPr>
              <a:t>On a live, provider-reported benchmark, a shared-brain recall task dropped from </a:t>
            </a:r>
            <a:r>
              <a:rPr sz="1350" b="1">
                <a:solidFill>
                  <a:srgbClr val="35D9EE"/>
                </a:solidFill>
                <a:latin typeface="Consolas"/>
              </a:rPr>
              <a:t>43,754 → 370 tokens</a:t>
            </a:r>
            <a:r>
              <a:rPr sz="1350" b="0">
                <a:solidFill>
                  <a:srgbClr val="8A97B0"/>
                </a:solidFill>
                <a:latin typeface="Calibri"/>
              </a:rPr>
              <a:t>. A complex feature build fell </a:t>
            </a:r>
            <a:r>
              <a:rPr sz="1350" b="1">
                <a:solidFill>
                  <a:srgbClr val="F5F7FA"/>
                </a:solidFill>
                <a:latin typeface="Calibri"/>
              </a:rPr>
              <a:t>87.5%</a:t>
            </a:r>
            <a:r>
              <a:rPr sz="1350" b="0">
                <a:solidFill>
                  <a:srgbClr val="8A97B0"/>
                </a:solidFill>
                <a:latin typeface="Calibri"/>
              </a:rPr>
              <a:t> (42,571 → 5,307). Less repeated work means lower model spend on every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ECONOMIC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Agents that hold budgets and transact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B0"/>
                </a:solidFill>
                <a:latin typeface="Calibri"/>
              </a:rPr>
              <a:t>Give an agent a controlled Base or Solana wallet and it can pay for tools, APIs, and compute — and trade — inside limits you set. Every money move shows a plain-English preview and needs confirmation; </a:t>
            </a:r>
            <a:r>
              <a:rPr sz="1400" b="1">
                <a:solidFill>
                  <a:srgbClr val="F5F7FA"/>
                </a:solidFill>
                <a:latin typeface="Calibri"/>
              </a:rPr>
              <a:t>personal wallets never auto-spend.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87168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97280" y="2743200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7066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Pay-per-use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x402 machine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487168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983480" y="2743200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27066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Sends &amp; swaps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2004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USDC on Base &amp; Solana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487168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8869680" y="2743200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7066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Perps &amp;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2004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Local Hyperliquid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1097280" y="4233672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1970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Stocks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9087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Alpaca + on-chain xStocks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977639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4983480" y="4233672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7528" y="41970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Markets &amp; launches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69087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Prediction markets, NFTs, tokens (Bankr)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3977639"/>
            <a:ext cx="3520440" cy="1325880"/>
          </a:xfrm>
          <a:prstGeom prst="roundRect">
            <a:avLst>
              <a:gd name="adj" fmla="val 7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8869680" y="4233672"/>
            <a:ext cx="274320" cy="246888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41970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Century Gothic"/>
              </a:rPr>
              <a:t>Private transfers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69087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B0"/>
                </a:solidFill>
                <a:latin typeface="Calibri"/>
              </a:rPr>
              <a:t>Shielded sends via Veil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532120"/>
            <a:ext cx="10515600" cy="566928"/>
          </a:xfrm>
          <a:prstGeom prst="roundRect">
            <a:avLst>
              <a:gd name="adj" fmla="val 20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3212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B024"/>
                </a:solidFill>
                <a:latin typeface="Calibri"/>
              </a:rPr>
              <a:t>Guardrails:  </a:t>
            </a:r>
            <a:r>
              <a:rPr sz="1250" b="0">
                <a:solidFill>
                  <a:srgbClr val="F5F7FA"/>
                </a:solidFill>
                <a:latin typeface="Calibri"/>
              </a:rPr>
              <a:t>spend caps  ·  daily &amp; monthly limits  ·  approval steps  ·  one-switch freeze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The agent explosion needs an operating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B024"/>
                </a:solidFill>
                <a:latin typeface="Century Gothic"/>
              </a:rPr>
              <a:t>6+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runtimes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bridged through neutral adapters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488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B024"/>
                </a:solidFill>
                <a:latin typeface="Century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63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290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from clone to a running fleet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1488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B024"/>
                </a:solidFill>
                <a:latin typeface="Century Gothic"/>
              </a:rPr>
              <a:t>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063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entury Gothic"/>
              </a:rPr>
              <a:t>fewer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4290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A97B0"/>
                </a:solidFill>
                <a:latin typeface="Calibri"/>
              </a:rPr>
              <a:t>on benchmarked shared-brain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A97B0"/>
                </a:solidFill>
                <a:latin typeface="Calibri"/>
              </a:rPr>
              <a:t>Three shifts are converging: </a:t>
            </a:r>
            <a:r>
              <a:rPr sz="1500" b="1">
                <a:solidFill>
                  <a:srgbClr val="F5F7FA"/>
                </a:solidFill>
                <a:latin typeface="Calibri"/>
              </a:rPr>
              <a:t>multi-agent systems</a:t>
            </a:r>
            <a:r>
              <a:rPr sz="1500" b="0">
                <a:solidFill>
                  <a:srgbClr val="8A97B0"/>
                </a:solidFill>
                <a:latin typeface="Calibri"/>
              </a:rPr>
              <a:t> are becoming the default, </a:t>
            </a:r>
            <a:r>
              <a:rPr sz="1500" b="1">
                <a:solidFill>
                  <a:srgbClr val="35D9EE"/>
                </a:solidFill>
                <a:latin typeface="Calibri"/>
              </a:rPr>
              <a:t>local-first + privacy</a:t>
            </a:r>
            <a:r>
              <a:rPr sz="1500" b="0">
                <a:solidFill>
                  <a:srgbClr val="8A97B0"/>
                </a:solidFill>
                <a:latin typeface="Calibri"/>
              </a:rPr>
              <a:t> are non-negotiable for real work, and </a:t>
            </a:r>
            <a:r>
              <a:rPr sz="1500" b="1">
                <a:solidFill>
                  <a:srgbClr val="FFB024"/>
                </a:solidFill>
                <a:latin typeface="Calibri"/>
              </a:rPr>
              <a:t>on-chain rails</a:t>
            </a:r>
            <a:r>
              <a:rPr sz="1500" b="0">
                <a:solidFill>
                  <a:srgbClr val="8A97B0"/>
                </a:solidFill>
                <a:latin typeface="Calibri"/>
              </a:rPr>
              <a:t> finally let software hold and spend money. HivemindOS is the coordination, memory, and economic layer that individual agents and single-vendor runtimes don't provide — the place a fleet becomes a business.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F5F7FA"/>
                </a:solidFill>
                <a:latin typeface="Century Gothic"/>
              </a:rPr>
              <a:t>Free, open core — paid where it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A97B0"/>
                </a:solidFill>
                <a:latin typeface="Calibri"/>
              </a:rPr>
              <a:t>The product stays free and self-hostable. Revenue comes from optional services and a clear take rate — </a:t>
            </a:r>
            <a:r>
              <a:rPr sz="1350" b="1">
                <a:solidFill>
                  <a:srgbClr val="F5F7FA"/>
                </a:solidFill>
                <a:latin typeface="Calibri"/>
              </a:rPr>
              <a:t>shown to users before every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4023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024"/>
                </a:solidFill>
                <a:latin typeface="Calibri"/>
              </a:rPr>
              <a:t>REVENUE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304288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024"/>
                </a:solidFill>
                <a:latin typeface="Calibri"/>
              </a:rPr>
              <a:t>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304288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024"/>
                </a:solidFill>
                <a:latin typeface="Calibri"/>
              </a:rP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52928"/>
            <a:ext cx="10515600" cy="621792"/>
          </a:xfrm>
          <a:prstGeom prst="roundRect">
            <a:avLst>
              <a:gd name="adj" fmla="val 9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F7FA"/>
                </a:solidFill>
                <a:latin typeface="Calibri"/>
              </a:rPr>
              <a:t>Zero Human Company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52928"/>
            <a:ext cx="4023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B0"/>
                </a:solidFill>
                <a:latin typeface="Calibri"/>
              </a:rPr>
              <a:t>2% (min $0.01) of recorded company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852928"/>
            <a:ext cx="2011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onsolas"/>
              </a:rPr>
              <a:t>$1,000 -&gt; $20.00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66160"/>
            <a:ext cx="10515600" cy="621792"/>
          </a:xfrm>
          <a:prstGeom prst="roundRect">
            <a:avLst>
              <a:gd name="adj" fmla="val 9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F7FA"/>
                </a:solidFill>
                <a:latin typeface="Calibri"/>
              </a:rPr>
              <a:t>On-chain &amp; trading 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66160"/>
            <a:ext cx="4023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B0"/>
                </a:solidFill>
                <a:latin typeface="Calibri"/>
              </a:rPr>
              <a:t>1% (min $0.01) on sends, swaps, stocks &amp;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566160"/>
            <a:ext cx="2011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onsolas"/>
              </a:rPr>
              <a:t>$100 -&gt; $1.00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79392"/>
            <a:ext cx="10515600" cy="621792"/>
          </a:xfrm>
          <a:prstGeom prst="roundRect">
            <a:avLst>
              <a:gd name="adj" fmla="val 9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79392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F7FA"/>
                </a:solidFill>
                <a:latin typeface="Calibri"/>
              </a:rPr>
              <a:t>Hosted agent / model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279392"/>
            <a:ext cx="4023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B0"/>
                </a:solidFill>
                <a:latin typeface="Calibri"/>
              </a:rPr>
              <a:t>$0.001 per successful hosted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279392"/>
            <a:ext cx="2011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onsolas"/>
              </a:rPr>
              <a:t>1M -&gt; $1,000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92624"/>
            <a:ext cx="10515600" cy="621792"/>
          </a:xfrm>
          <a:prstGeom prst="roundRect">
            <a:avLst>
              <a:gd name="adj" fmla="val 9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92624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F7FA"/>
                </a:solidFill>
                <a:latin typeface="Calibri"/>
              </a:rPr>
              <a:t>Hive Cloud &amp;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992624"/>
            <a:ext cx="4023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B0"/>
                </a:solidFill>
                <a:latin typeface="Calibri"/>
              </a:rPr>
              <a:t>Managed hosting, compute, SSO, private deploys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992624"/>
            <a:ext cx="2011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onsolas"/>
              </a:rPr>
              <a:t>Recurring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705856"/>
            <a:ext cx="10515600" cy="621792"/>
          </a:xfrm>
          <a:prstGeom prst="roundRect">
            <a:avLst>
              <a:gd name="adj" fmla="val 9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0585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5F7FA"/>
                </a:solidFill>
                <a:latin typeface="Calibri"/>
              </a:rPr>
              <a:t>Agent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705856"/>
            <a:ext cx="4023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B0"/>
                </a:solidFill>
                <a:latin typeface="Calibri"/>
              </a:rPr>
              <a:t>Fee on agents, swarms, workflows &amp;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705856"/>
            <a:ext cx="2011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D9EE"/>
                </a:solidFill>
                <a:latin typeface="Consolas"/>
              </a:rPr>
              <a:t>Take on GMV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THE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Usage earns Honey. Honey claims HIVE.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78992" y="2770632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914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Century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F5F7FA"/>
                </a:solidFill>
                <a:latin typeface="Century Gothic"/>
              </a:rPr>
              <a:t>Use HivemindOS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B0"/>
                </a:solidFill>
                <a:latin typeface="Calibri"/>
              </a:rPr>
              <a:t>Run agents &amp;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3017520"/>
            <a:ext cx="283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B024"/>
                </a:solidFill>
                <a:latin typeface="Century Gothic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5146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3310128" y="2770632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78914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33375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F5F7FA"/>
                </a:solidFill>
                <a:latin typeface="Century Gothic"/>
              </a:rPr>
              <a:t>Earn Honey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37764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B0"/>
                </a:solidFill>
                <a:latin typeface="Calibri"/>
              </a:rPr>
              <a:t>Contribution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3017520"/>
            <a:ext cx="283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B024"/>
                </a:solidFill>
                <a:latin typeface="Century Gothic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5231" y="25146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5541264" y="2770632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278914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Century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3375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F5F7FA"/>
                </a:solidFill>
                <a:latin typeface="Century Gothic"/>
              </a:rPr>
              <a:t>Claim HIVE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37764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B0"/>
                </a:solidFill>
                <a:latin typeface="Calibri"/>
              </a:rPr>
              <a:t>Ownership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3017520"/>
            <a:ext cx="283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B024"/>
                </a:solidFill>
                <a:latin typeface="Century Gothic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6367" y="25146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7772399" y="2770632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278914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Century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7" y="33375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F5F7FA"/>
                </a:solidFill>
                <a:latin typeface="Century Gothic"/>
              </a:rPr>
              <a:t>Hold or stake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7" y="37764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B0"/>
                </a:solidFill>
                <a:latin typeface="Calibri"/>
              </a:rPr>
              <a:t>Locked supply +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017520"/>
            <a:ext cx="283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B024"/>
                </a:solidFill>
                <a:latin typeface="Century Gothic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47503" y="2514600"/>
            <a:ext cx="2057400" cy="1600200"/>
          </a:xfrm>
          <a:prstGeom prst="roundRect">
            <a:avLst>
              <a:gd name="adj" fmla="val 8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003535" y="2770632"/>
            <a:ext cx="457200" cy="411480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3535" y="2789148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0E1A"/>
                </a:solidFill>
                <a:latin typeface="Century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3" y="33375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F5F7FA"/>
                </a:solidFill>
                <a:latin typeface="Century Gothic"/>
              </a:rPr>
              <a:t>Strengthen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3" y="377647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B0"/>
                </a:solidFill>
                <a:latin typeface="Calibri"/>
              </a:rPr>
              <a:t>More adoption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0D1222"/>
          </a:solidFill>
          <a:ln w="1270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864608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B0"/>
                </a:solidFill>
                <a:latin typeface="Calibri"/>
              </a:rPr>
              <a:t>Revenue is allocated to </a:t>
            </a:r>
            <a:r>
              <a:rPr sz="1400" b="1">
                <a:solidFill>
                  <a:srgbClr val="F5F7FA"/>
                </a:solidFill>
                <a:latin typeface="Calibri"/>
              </a:rPr>
              <a:t>operations (50%)</a:t>
            </a:r>
            <a:r>
              <a:rPr sz="1400" b="0">
                <a:solidFill>
                  <a:srgbClr val="8A97B0"/>
                </a:solidFill>
                <a:latin typeface="Calibri"/>
              </a:rPr>
              <a:t>, </a:t>
            </a:r>
            <a:r>
              <a:rPr sz="1400" b="1">
                <a:solidFill>
                  <a:srgbClr val="F5F7FA"/>
                </a:solidFill>
                <a:latin typeface="Calibri"/>
              </a:rPr>
              <a:t>growth (20%)</a:t>
            </a:r>
            <a:r>
              <a:rPr sz="1400" b="0">
                <a:solidFill>
                  <a:srgbClr val="8A97B0"/>
                </a:solidFill>
                <a:latin typeface="Calibri"/>
              </a:rPr>
              <a:t>, </a:t>
            </a:r>
            <a:r>
              <a:rPr sz="1400" b="1">
                <a:solidFill>
                  <a:srgbClr val="F5F7FA"/>
                </a:solidFill>
                <a:latin typeface="Calibri"/>
              </a:rPr>
              <a:t>treasury (15%)</a:t>
            </a:r>
            <a:r>
              <a:rPr sz="1400" b="0">
                <a:solidFill>
                  <a:srgbClr val="8A97B0"/>
                </a:solidFill>
                <a:latin typeface="Calibri"/>
              </a:rPr>
              <a:t>, and </a:t>
            </a:r>
            <a:r>
              <a:rPr sz="1400" b="1">
                <a:solidFill>
                  <a:srgbClr val="FFB024"/>
                </a:solidFill>
                <a:latin typeface="Calibri"/>
              </a:rPr>
              <a:t>revenue-backed buybacks (15%)</a:t>
            </a:r>
            <a:r>
              <a:rPr sz="1400" b="0">
                <a:solidFill>
                  <a:srgbClr val="8A97B0"/>
                </a:solidFill>
                <a:latin typeface="Calibri"/>
              </a:rPr>
              <a:t>. Stake-lock removes supply; buybacks add revenue-driven support. The token supports the ecosystem — it never sits in front of the product.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22960" y="585216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Century Gothic"/>
              </a:rPr>
              <a:t>From control room to full agent 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E1A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Century Gothic"/>
              </a:rPr>
              <a:t>Harden the core</a:t>
            </a:r>
          </a:p>
        </p:txBody>
      </p:sp>
      <p:sp>
        <p:nvSpPr>
          <p:cNvPr id="10" name="Hexagon 9"/>
          <p:cNvSpPr/>
          <p:nvPr/>
        </p:nvSpPr>
        <p:spPr>
          <a:xfrm>
            <a:off x="1143000" y="3785615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730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Guided onboarding &amp; health cockpit</a:t>
            </a:r>
          </a:p>
        </p:txBody>
      </p:sp>
      <p:sp>
        <p:nvSpPr>
          <p:cNvPr id="12" name="Hexagon 11"/>
          <p:cNvSpPr/>
          <p:nvPr/>
        </p:nvSpPr>
        <p:spPr>
          <a:xfrm>
            <a:off x="1143000" y="4498848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4443984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Signed collector identity + auth</a:t>
            </a:r>
          </a:p>
        </p:txBody>
      </p:sp>
      <p:sp>
        <p:nvSpPr>
          <p:cNvPr id="14" name="Hexagon 13"/>
          <p:cNvSpPr/>
          <p:nvPr/>
        </p:nvSpPr>
        <p:spPr>
          <a:xfrm>
            <a:off x="1143000" y="5212080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515721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Deeper Zero Human Company loops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24688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5D9EE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632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Century Gothic"/>
              </a:rPr>
              <a:t>Reach &amp; depth</a:t>
            </a:r>
          </a:p>
        </p:txBody>
      </p:sp>
      <p:sp>
        <p:nvSpPr>
          <p:cNvPr id="20" name="Hexagon 19"/>
          <p:cNvSpPr/>
          <p:nvPr/>
        </p:nvSpPr>
        <p:spPr>
          <a:xfrm>
            <a:off x="4754880" y="3785615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3730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Native iOS / Android companion app</a:t>
            </a:r>
          </a:p>
        </p:txBody>
      </p:sp>
      <p:sp>
        <p:nvSpPr>
          <p:cNvPr id="22" name="Hexagon 21"/>
          <p:cNvSpPr/>
          <p:nvPr/>
        </p:nvSpPr>
        <p:spPr>
          <a:xfrm>
            <a:off x="4754880" y="4498848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4443984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Richer swarm planning &amp; Evo runs</a:t>
            </a:r>
          </a:p>
        </p:txBody>
      </p:sp>
      <p:sp>
        <p:nvSpPr>
          <p:cNvPr id="24" name="Hexagon 23"/>
          <p:cNvSpPr/>
          <p:nvPr/>
        </p:nvSpPr>
        <p:spPr>
          <a:xfrm>
            <a:off x="4754880" y="5212080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6632" y="515721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Vault-safe write APIs &amp; handoffs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19456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24688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468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5D9EE"/>
                </a:solidFill>
                <a:latin typeface="Calibri"/>
              </a:rP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0632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Century Gothic"/>
              </a:rPr>
              <a:t>Monetize the network</a:t>
            </a:r>
          </a:p>
        </p:txBody>
      </p:sp>
      <p:sp>
        <p:nvSpPr>
          <p:cNvPr id="30" name="Hexagon 29"/>
          <p:cNvSpPr/>
          <p:nvPr/>
        </p:nvSpPr>
        <p:spPr>
          <a:xfrm>
            <a:off x="8366760" y="3785615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3730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Hive Cloud managed hosting</a:t>
            </a:r>
          </a:p>
        </p:txBody>
      </p:sp>
      <p:sp>
        <p:nvSpPr>
          <p:cNvPr id="32" name="Hexagon 31"/>
          <p:cNvSpPr/>
          <p:nvPr/>
        </p:nvSpPr>
        <p:spPr>
          <a:xfrm>
            <a:off x="8366760" y="4498848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4443984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Agent Marketplace + creator payouts</a:t>
            </a:r>
          </a:p>
        </p:txBody>
      </p:sp>
      <p:sp>
        <p:nvSpPr>
          <p:cNvPr id="34" name="Hexagon 33"/>
          <p:cNvSpPr/>
          <p:nvPr/>
        </p:nvSpPr>
        <p:spPr>
          <a:xfrm>
            <a:off x="8366760" y="5212080"/>
            <a:ext cx="164592" cy="148132"/>
          </a:xfrm>
          <a:prstGeom prst="hexagon">
            <a:avLst/>
          </a:prstGeom>
          <a:solidFill>
            <a:srgbClr val="35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515721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B0"/>
                </a:solidFill>
                <a:latin typeface="Calibri"/>
              </a:rPr>
              <a:t>Enterprise: SSO, teams,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18A"/>
                </a:solidFill>
                <a:latin typeface="Consola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18A"/>
                </a:solidFill>
                <a:latin typeface="Calibri"/>
              </a:rPr>
              <a:t>HIVEMINDOS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0424160" y="4206240"/>
            <a:ext cx="1371600" cy="1234440"/>
          </a:xfrm>
          <a:prstGeom prst="hexagon">
            <a:avLst/>
          </a:prstGeom>
          <a:noFill/>
          <a:ln w="1524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1247120" y="5029200"/>
            <a:ext cx="914400" cy="822960"/>
          </a:xfrm>
          <a:prstGeom prst="hexagon">
            <a:avLst/>
          </a:prstGeom>
          <a:noFill/>
          <a:ln w="15240">
            <a:solidFill>
              <a:srgbClr val="26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875520" y="5212080"/>
            <a:ext cx="731520" cy="658368"/>
          </a:xfrm>
          <a:prstGeom prst="hexagon">
            <a:avLst/>
          </a:prstGeom>
          <a:noFill/>
          <a:ln w="15240">
            <a:solidFill>
              <a:srgbClr val="1B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22960" y="932688"/>
            <a:ext cx="201168" cy="181051"/>
          </a:xfrm>
          <a:prstGeom prst="hexagon">
            <a:avLst/>
          </a:prstGeom>
          <a:solidFill>
            <a:srgbClr val="FFB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8961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4"/>
                </a:solidFill>
                <a:latin typeface="Calibri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F7FA"/>
                </a:solidFill>
                <a:latin typeface="Century Gothic"/>
              </a:rPr>
              <a:t>The operating system for the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B024"/>
                </a:solidFill>
                <a:latin typeface="Century Gothic"/>
              </a:rPr>
              <a:t>agent economy.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8A97B0"/>
                </a:solidFill>
                <a:latin typeface="Calibri"/>
              </a:rPr>
              <a:t>Every agent will need a place to remember, coordinate, ship, and transact — and the best ones will run entire companies. HivemindOS is building that layer: local-first, open, and already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074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024"/>
                </a:solidFill>
                <a:latin typeface="Calibri"/>
              </a:rPr>
              <a:t>RAISING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4406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5F7FA"/>
                </a:solidFill>
                <a:latin typeface="Calibri"/>
              </a:rPr>
              <a:t>Seed round to fund product &amp; ecosystem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89204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5074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024"/>
                </a:solidFill>
                <a:latin typeface="Calibri"/>
              </a:rPr>
              <a:t>USING CAPITAL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54406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5F7FA"/>
                </a:solidFill>
                <a:latin typeface="Calibri"/>
              </a:rPr>
              <a:t>Cloud infra, marketplace, mobile app &amp;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89204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5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5074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B024"/>
                </a:solidFill>
                <a:latin typeface="Calibri"/>
              </a:rPr>
              <a:t>GET IN TOUCH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544068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5F7FA"/>
                </a:solidFill>
                <a:latin typeface="Calibri"/>
              </a:rPr>
              <a:t>vibe@withami.ai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18A"/>
                </a:solidFill>
                <a:latin typeface="Consolas"/>
              </a:rPr>
              <a:t>HivemindOS  ·  github.com/LiamVisionary/hivemindos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