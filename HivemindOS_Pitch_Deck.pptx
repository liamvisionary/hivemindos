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12fa15ba2754697" /><Relationship Type="http://schemas.openxmlformats.org/officeDocument/2006/relationships/extended-properties" Target="/docProps/app.xml" Id="Rd4d0163fa8ef4552" /><Relationship Type="http://schemas.openxmlformats.org/officeDocument/2006/relationships/officeDocument" Target="/ppt/presentation.xml" Id="R6949386d755e43a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b45cbe71c68424d"/>
  </p:sldMasterIdLst>
  <p:notesMasterIdLst>
    <p:notesMasterId xmlns:r="http://schemas.openxmlformats.org/officeDocument/2006/relationships" r:id="Rd25d4783885046c8"/>
  </p:notesMasterIdLst>
  <p:sldIdLst>
    <p:sldId xmlns:r="http://schemas.openxmlformats.org/officeDocument/2006/relationships" id="256" r:id="Rc78bfa33252c4b0d"/>
    <p:sldId xmlns:r="http://schemas.openxmlformats.org/officeDocument/2006/relationships" id="257" r:id="R1d6ffdf2ed864919"/>
    <p:sldId xmlns:r="http://schemas.openxmlformats.org/officeDocument/2006/relationships" id="258" r:id="R42ac9457437c4248"/>
    <p:sldId xmlns:r="http://schemas.openxmlformats.org/officeDocument/2006/relationships" id="259" r:id="Rcab8f28fd3cc430c"/>
    <p:sldId xmlns:r="http://schemas.openxmlformats.org/officeDocument/2006/relationships" id="260" r:id="R24c3ce4e918a4285"/>
    <p:sldId xmlns:r="http://schemas.openxmlformats.org/officeDocument/2006/relationships" id="261" r:id="R2a5b61ff36f94240"/>
    <p:sldId xmlns:r="http://schemas.openxmlformats.org/officeDocument/2006/relationships" id="262" r:id="R7664454ae32b48ba"/>
    <p:sldId xmlns:r="http://schemas.openxmlformats.org/officeDocument/2006/relationships" id="263" r:id="R22372619cabc4fbf"/>
    <p:sldId xmlns:r="http://schemas.openxmlformats.org/officeDocument/2006/relationships" id="264" r:id="Rf760f34b5b6e4b75"/>
    <p:sldId xmlns:r="http://schemas.openxmlformats.org/officeDocument/2006/relationships" id="265" r:id="R723ac17de5bb4b2d"/>
    <p:sldId xmlns:r="http://schemas.openxmlformats.org/officeDocument/2006/relationships" id="266" r:id="Rb2388f70c8a047eb"/>
    <p:sldId xmlns:r="http://schemas.openxmlformats.org/officeDocument/2006/relationships" id="267" r:id="Ra3f2427e5b2b4b21"/>
    <p:sldId xmlns:r="http://schemas.openxmlformats.org/officeDocument/2006/relationships" id="268" r:id="R868b57be7b954663"/>
    <p:sldId xmlns:r="http://schemas.openxmlformats.org/officeDocument/2006/relationships" id="269" r:id="R517f5abfee33448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25a80ebbb3b4d84" /><Relationship Type="http://schemas.openxmlformats.org/officeDocument/2006/relationships/slideMaster" Target="/ppt/slideMasters/slideMaster1.xml" Id="Rab45cbe71c68424d" /><Relationship Type="http://schemas.openxmlformats.org/officeDocument/2006/relationships/notesMaster" Target="/ppt/notesMasters/notesMaster1.xml" Id="Rd25d4783885046c8" /><Relationship Type="http://schemas.openxmlformats.org/officeDocument/2006/relationships/presProps" Target="/ppt/presProps.xml" Id="Re61cc67d93fe4afd" /><Relationship Type="http://schemas.openxmlformats.org/officeDocument/2006/relationships/tableStyles" Target="/ppt/tableStyles.xml" Id="R75af39fe57534cd8" /><Relationship Type="http://schemas.openxmlformats.org/officeDocument/2006/relationships/slide" Target="/ppt/slides/slide1.xml" Id="Rc78bfa33252c4b0d" /><Relationship Type="http://schemas.openxmlformats.org/officeDocument/2006/relationships/slide" Target="/ppt/slides/slide2.xml" Id="R1d6ffdf2ed864919" /><Relationship Type="http://schemas.openxmlformats.org/officeDocument/2006/relationships/slide" Target="/ppt/slides/slide3.xml" Id="R42ac9457437c4248" /><Relationship Type="http://schemas.openxmlformats.org/officeDocument/2006/relationships/slide" Target="/ppt/slides/slide4.xml" Id="Rcab8f28fd3cc430c" /><Relationship Type="http://schemas.openxmlformats.org/officeDocument/2006/relationships/slide" Target="/ppt/slides/slide5.xml" Id="R24c3ce4e918a4285" /><Relationship Type="http://schemas.openxmlformats.org/officeDocument/2006/relationships/slide" Target="/ppt/slides/slide6.xml" Id="R2a5b61ff36f94240" /><Relationship Type="http://schemas.openxmlformats.org/officeDocument/2006/relationships/slide" Target="/ppt/slides/slide7.xml" Id="R7664454ae32b48ba" /><Relationship Type="http://schemas.openxmlformats.org/officeDocument/2006/relationships/slide" Target="/ppt/slides/slide8.xml" Id="R22372619cabc4fbf" /><Relationship Type="http://schemas.openxmlformats.org/officeDocument/2006/relationships/slide" Target="/ppt/slides/slide9.xml" Id="Rf760f34b5b6e4b75" /><Relationship Type="http://schemas.openxmlformats.org/officeDocument/2006/relationships/slide" Target="/ppt/slides/slide10.xml" Id="R723ac17de5bb4b2d" /><Relationship Type="http://schemas.openxmlformats.org/officeDocument/2006/relationships/slide" Target="/ppt/slides/slide11.xml" Id="Rb2388f70c8a047eb" /><Relationship Type="http://schemas.openxmlformats.org/officeDocument/2006/relationships/slide" Target="/ppt/slides/slide12.xml" Id="Ra3f2427e5b2b4b21" /><Relationship Type="http://schemas.openxmlformats.org/officeDocument/2006/relationships/slide" Target="/ppt/slides/slide13.xml" Id="R868b57be7b954663" /><Relationship Type="http://schemas.openxmlformats.org/officeDocument/2006/relationships/slide" Target="/ppt/slides/slide14.xml" Id="R517f5abfee33448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36d4f93eed34b0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a1029fee8d24e98" /><Relationship Type="http://schemas.openxmlformats.org/officeDocument/2006/relationships/notesMaster" Target="/ppt/notesMasters/notesMaster1.xml" Id="R08e94d07eba14e2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7ec7feb0d24af6" /><Relationship Type="http://schemas.openxmlformats.org/officeDocument/2006/relationships/notesMaster" Target="/ppt/notesMasters/notesMaster1.xml" Id="R740c89cd996340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ad8c911e4ac4681" /><Relationship Type="http://schemas.openxmlformats.org/officeDocument/2006/relationships/notesMaster" Target="/ppt/notesMasters/notesMaster1.xml" Id="R25455d66542345b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06bb1ee27a44bf2" /><Relationship Type="http://schemas.openxmlformats.org/officeDocument/2006/relationships/notesMaster" Target="/ppt/notesMasters/notesMaster1.xml" Id="R7ef12af0cc70499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bccf55079e2472a" /><Relationship Type="http://schemas.openxmlformats.org/officeDocument/2006/relationships/notesMaster" Target="/ppt/notesMasters/notesMaster1.xml" Id="R905d670fe21c4b7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cfd66c3259d4d24" /><Relationship Type="http://schemas.openxmlformats.org/officeDocument/2006/relationships/notesMaster" Target="/ppt/notesMasters/notesMaster1.xml" Id="Rfa3553b45bf640f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c886dab46c94972" /><Relationship Type="http://schemas.openxmlformats.org/officeDocument/2006/relationships/notesMaster" Target="/ppt/notesMasters/notesMaster1.xml" Id="R1a483990ce614e9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534b81c8aa246f3" /><Relationship Type="http://schemas.openxmlformats.org/officeDocument/2006/relationships/notesMaster" Target="/ppt/notesMasters/notesMaster1.xml" Id="R4cde4384a38c427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ca6c3b064fb407d" /><Relationship Type="http://schemas.openxmlformats.org/officeDocument/2006/relationships/notesMaster" Target="/ppt/notesMasters/notesMaster1.xml" Id="R4505cde16b404c9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d3ab320c69b4ad7" /><Relationship Type="http://schemas.openxmlformats.org/officeDocument/2006/relationships/notesMaster" Target="/ppt/notesMasters/notesMaster1.xml" Id="R72df16c96f70415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ee2735f3be441e8" /><Relationship Type="http://schemas.openxmlformats.org/officeDocument/2006/relationships/notesMaster" Target="/ppt/notesMasters/notesMaster1.xml" Id="Rb27c08c98bee4eb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3724de4d32c4315" /><Relationship Type="http://schemas.openxmlformats.org/officeDocument/2006/relationships/notesMaster" Target="/ppt/notesMasters/notesMaster1.xml" Id="R3bad72aebe394c6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7e93e2bae334607" /><Relationship Type="http://schemas.openxmlformats.org/officeDocument/2006/relationships/notesMaster" Target="/ppt/notesMasters/notesMaster1.xml" Id="Rc7e7fcf4dac84c5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d0a7674fef34b3a" /><Relationship Type="http://schemas.openxmlformats.org/officeDocument/2006/relationships/notesMaster" Target="/ppt/notesMasters/notesMaster1.xml" Id="Rf14dbf26d4fa4a6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31784b8d7940e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1a31e4a44604b06" /><Relationship Type="http://schemas.openxmlformats.org/officeDocument/2006/relationships/slideLayout" Target="/ppt/slideLayouts/slideLayout1.xml" Id="Rd908f6c0589b403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908f6c0589b403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6dfe2080cf48a8" /><Relationship Type="http://schemas.openxmlformats.org/officeDocument/2006/relationships/image" Target="/ppt/media/image.png" Id="R3b0e29846ad047cc" /><Relationship Type="http://schemas.openxmlformats.org/officeDocument/2006/relationships/notesSlide" Target="/ppt/notesSlides/notesSlide1.xml" Id="R9b0cb1af344e487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568464b51b430e" /><Relationship Type="http://schemas.openxmlformats.org/officeDocument/2006/relationships/notesSlide" Target="/ppt/notesSlides/notesSlide2.xml" Id="R20c6ece2bc29434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fe126699f94934" /><Relationship Type="http://schemas.openxmlformats.org/officeDocument/2006/relationships/notesSlide" Target="/ppt/notesSlides/notesSlide3.xml" Id="R811a069fa78f4b1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1f7713f2ba4dbc" /><Relationship Type="http://schemas.openxmlformats.org/officeDocument/2006/relationships/notesSlide" Target="/ppt/notesSlides/notesSlide4.xml" Id="Raf7a33fe7078443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d4f939451d4003" /><Relationship Type="http://schemas.openxmlformats.org/officeDocument/2006/relationships/notesSlide" Target="/ppt/notesSlides/notesSlide5.xml" Id="Rfd9167ac947c408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251501939a4310" /><Relationship Type="http://schemas.openxmlformats.org/officeDocument/2006/relationships/notesSlide" Target="/ppt/notesSlides/notesSlide6.xml" Id="R412b0f033ae24a0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a1dfdb3e5b40a1" /><Relationship Type="http://schemas.openxmlformats.org/officeDocument/2006/relationships/notesSlide" Target="/ppt/notesSlides/notesSlide7.xml" Id="R4fa131b9f8824ac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5409bd0646447a" /><Relationship Type="http://schemas.openxmlformats.org/officeDocument/2006/relationships/notesSlide" Target="/ppt/notesSlides/notesSlide8.xml" Id="R0e4bf977caca4ff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75122dc245450f" /><Relationship Type="http://schemas.openxmlformats.org/officeDocument/2006/relationships/notesSlide" Target="/ppt/notesSlides/notesSlide9.xml" Id="R85af9bfee0c1467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9cc3b950cd4111" /><Relationship Type="http://schemas.openxmlformats.org/officeDocument/2006/relationships/notesSlide" Target="/ppt/notesSlides/notesSlide10.xml" Id="R9fb0c797e84945f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ec8ad49d3a49c8" /><Relationship Type="http://schemas.openxmlformats.org/officeDocument/2006/relationships/notesSlide" Target="/ppt/notesSlides/notesSlide11.xml" Id="R93acf7ab07d34fd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9ff394b9fd4248" /><Relationship Type="http://schemas.openxmlformats.org/officeDocument/2006/relationships/notesSlide" Target="/ppt/notesSlides/notesSlide12.xml" Id="R5e38868bb03949a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7a9036e0a74308" /><Relationship Type="http://schemas.openxmlformats.org/officeDocument/2006/relationships/notesSlide" Target="/ppt/notesSlides/notesSlide13.xml" Id="Ra3f2f3fa385d49e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2cffe7c8664342" /><Relationship Type="http://schemas.openxmlformats.org/officeDocument/2006/relationships/notesSlide" Target="/ppt/notesSlides/notesSlide14.xml" Id="R2f8a99d5703347e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D9A62E6D-0B5E-46B2-9C4E-7B5CBE9D8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mbient-orb">
            <a:extLst xmlns:a="http://schemas.openxmlformats.org/drawingml/2006/main">
              <a:ext uri="{FF2B5EF4-FFF2-40B4-BE49-F238E27FC236}">
                <a16:creationId xmlns:a16="http://schemas.microsoft.com/office/drawing/2014/main" id="{9DC14CCC-6688-467A-9927-F4A7E18F4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0"/>
            <a:ext cx="1885950" cy="1885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0e29846ad047cc"/>
          <a:stretch xmlns:a="http://schemas.openxmlformats.org/drawingml/2006/main"/>
        </p:blipFill>
        <p:spPr>
          <a:xfrm xmlns:a="http://schemas.openxmlformats.org/drawingml/2006/main">
            <a:off x="554152" y="419100"/>
            <a:ext cx="663346" cy="6762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1D4036-64B2-4FD3-8A21-F1ADF6465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7150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HIVEMINDOS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CE45FF-3BC6-4C19-BAB6-0431C8A89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838200"/>
            <a:ext cx="314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SEED  ·  OPEN SOURCE (MIT)</a:t>
            </a:r>
          </a:p>
        </p:txBody>
      </p:sp>
      <p:sp>
        <p:nvSpPr>
          <p:cNvPr id="6" name="cover-title">
            <a:extLst xmlns:a="http://schemas.openxmlformats.org/drawingml/2006/main">
              <a:ext uri="{FF2B5EF4-FFF2-40B4-BE49-F238E27FC236}">
                <a16:creationId xmlns:a16="http://schemas.microsoft.com/office/drawing/2014/main" id="{CF51CC40-0AA7-429A-BB84-189393D85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57350"/>
            <a:ext cx="7429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3600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The open-source control plane</a:t>
            </a:r>
          </a:p>
          <a:p xmlns:a="http://schemas.openxmlformats.org/drawingml/2006/main">
            <a:pPr algn="l">
              <a:defRPr sz="3600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3600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for autonomous agent operations.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910B37-E278-4C4A-947E-07B52C6A3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76650"/>
            <a:ext cx="533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697E31-96C1-49C3-BF05-4C05EA388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81450"/>
            <a:ext cx="666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Local use stays free. Teams pay Hivemind Cloud to keep agents running, governed, observable, and deployable when the work becomes operational.</a:t>
            </a:r>
          </a:p>
        </p:txBody>
      </p:sp>
      <p:sp>
        <p:nvSpPr>
          <p:cNvPr id="9" name="cover-thesis-rail">
            <a:extLst xmlns:a="http://schemas.openxmlformats.org/drawingml/2006/main">
              <a:ext uri="{FF2B5EF4-FFF2-40B4-BE49-F238E27FC236}">
                <a16:creationId xmlns:a16="http://schemas.microsoft.com/office/drawing/2014/main" id="{33C73266-45A3-46B9-A738-B44DB4BFC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381125"/>
            <a:ext cx="2857500" cy="321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335AD8-4908-44EC-AC35-EBA636940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714500"/>
            <a:ext cx="2190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ONE ENGINE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CBD7A8-91F6-41B0-95B4-E4DB63292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9550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Free local adoption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A7C4F6-CD2C-4DAF-9C84-E4941E062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05075"/>
            <a:ext cx="190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48D2DF-8FDE-4472-B2E7-B549F97D2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00350"/>
            <a:ext cx="2190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Hivemind Cloud</a:t>
            </a:r>
          </a:p>
          <a:p xmlns:a="http://schemas.openxmlformats.org/drawingml/2006/main">
            <a:pPr algn="l">
              <a:defRPr sz="1800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800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subscription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FD4804-1E61-45E2-9F49-4531202F1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62350"/>
            <a:ext cx="190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9EF86B-70CA-4988-9BF4-C8F7D392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9525"/>
            <a:ext cx="2190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+ metered usage</a:t>
            </a:r>
          </a:p>
          <a:p xmlns:a="http://schemas.openxmlformats.org/drawingml/2006/main">
            <a:pPr algn="l">
              <a:defRPr sz="112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+ enterprise expansion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2232A5-C297-4319-97A1-262958DDD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48300"/>
            <a:ext cx="19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E84967-3689-49E7-B4A5-CFC2D6ED2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10200"/>
            <a:ext cx="2228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2025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FREE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4BDA7D-319C-48D4-872C-23E9C6C78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00725"/>
            <a:ext cx="2228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35D7FF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35D7FF"/>
                </a:solidFill>
                <a:latin typeface="Avenir Next"/>
                <a:ea typeface="Avenir Next"/>
                <a:cs typeface="Avenir Next"/>
              </a:rPr>
              <a:t>OPEN CORE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D6FE70-0DD0-4182-9221-FABA9DE0B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81700"/>
            <a:ext cx="2228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local · BYOK · self-hosted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27A039-CEAC-4AEA-956D-ABFCF577E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448300"/>
            <a:ext cx="19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5FE4CB-5708-4968-BB03-E36389E92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410200"/>
            <a:ext cx="2228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2025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$39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2B4FB7-735C-49FE-95BA-7FE883A51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800725"/>
            <a:ext cx="2228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CLOUD PRO HYPOTHESIS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AE563E-D7B6-4141-A94A-ED8D56452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981700"/>
            <a:ext cx="2228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design-partner validation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46419B-AFA4-4E1E-A9DE-3352620BE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5448300"/>
            <a:ext cx="19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7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1EF00B-EF91-49D4-94F6-8D78D6BCA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410200"/>
            <a:ext cx="2228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2025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$299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D5E7C9-0F8E-47A0-998E-D1269A6BC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800725"/>
            <a:ext cx="2228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8B78FF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8B78FF"/>
                </a:solidFill>
                <a:latin typeface="Avenir Next"/>
                <a:ea typeface="Avenir Next"/>
                <a:cs typeface="Avenir Next"/>
              </a:rPr>
              <a:t>CLOUD TEAM HYPOTHESIS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43BE2D-AAE3-4F8F-9F20-AD0F397CD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981700"/>
            <a:ext cx="2228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governed team workspace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5EEB45-9440-4061-A646-9BBFE19E1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448300"/>
            <a:ext cx="19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E5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207444-86DC-4061-BA35-AC291A4E9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410200"/>
            <a:ext cx="266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2025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$30K+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3F4055-C8E5-43C4-A0BC-D67D8AFCF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800725"/>
            <a:ext cx="2667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4CE5A7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4CE5A7"/>
                </a:solidFill>
                <a:latin typeface="Avenir Next"/>
                <a:ea typeface="Avenir Next"/>
                <a:cs typeface="Avenir Next"/>
              </a:rPr>
              <a:t>ENTERPRISE ANNUAL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29EA49E-CC08-4D20-9AD8-1D652EDB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9817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contact-led minimum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223C45A-1084-4B7A-99B0-8B192F859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6069F1C6-D029-4373-91AC-995E250BF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933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HIVEMINDOS  ·  github.com/LiamVisionary/hivemindos</a:t>
            </a:r>
          </a:p>
        </p:txBody>
      </p:sp>
      <p:sp>
        <p:nvSpPr>
          <p:cNvPr id="34" name="footer-page">
            <a:extLst xmlns:a="http://schemas.openxmlformats.org/drawingml/2006/main">
              <a:ext uri="{FF2B5EF4-FFF2-40B4-BE49-F238E27FC236}">
                <a16:creationId xmlns:a16="http://schemas.microsoft.com/office/drawing/2014/main" id="{183166AE-59EC-45EA-ADAA-AB41BCD6C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7829373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20C6BD99-9605-472B-A408-ADAB19747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mbient-orb">
            <a:extLst xmlns:a="http://schemas.openxmlformats.org/drawingml/2006/main">
              <a:ext uri="{FF2B5EF4-FFF2-40B4-BE49-F238E27FC236}">
                <a16:creationId xmlns:a16="http://schemas.microsoft.com/office/drawing/2014/main" id="{ACD019E3-751C-4A35-BF7F-5BC8D8BD8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0"/>
            <a:ext cx="1885950" cy="1885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The problem-marker">
            <a:extLst xmlns:a="http://schemas.openxmlformats.org/drawingml/2006/main">
              <a:ext uri="{FF2B5EF4-FFF2-40B4-BE49-F238E27FC236}">
                <a16:creationId xmlns:a16="http://schemas.microsoft.com/office/drawing/2014/main" id="{53516A0B-0D66-49E8-ADE0-236F43FB7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The problem-label">
            <a:extLst xmlns:a="http://schemas.openxmlformats.org/drawingml/2006/main">
              <a:ext uri="{FF2B5EF4-FFF2-40B4-BE49-F238E27FC236}">
                <a16:creationId xmlns:a16="http://schemas.microsoft.com/office/drawing/2014/main" id="{36482311-44F4-4AB4-87E6-704583E13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T H E   P R O B L E M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06BE69B-1D0E-4640-828D-829C0CEE0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Agents can do work. No one operates the fleet.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6232F5-7075-46F1-BB20-6A6FDBE6B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BABC2942-940B-454F-8B43-086FDE596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933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HIVEMINDOS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863A04AA-9AD7-443B-9F7A-2ED98A7C4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3BE399-D01E-4F78-B4C0-14842EE0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62125"/>
            <a:ext cx="4762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Models are improving faster than the operating systems around them. The failure is no longer raw capability—it is continuity, coordination, control, and proof.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BF3AB8-6247-4F95-AED3-408C094F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05150"/>
            <a:ext cx="4381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B21A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FB21A"/>
                </a:solidFill>
                <a:latin typeface="Georgia"/>
                <a:ea typeface="Georgia"/>
                <a:cs typeface="Georgia"/>
              </a:rPr>
              <a:t>A chat window is not an operating layer.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4A5312-9527-4DA8-A210-C0F16E717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29100"/>
            <a:ext cx="4476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Without one, every new runtime adds another silo, another spend surface, and another place where context disappears.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F6E359-97BA-4B4B-BC1D-EE0B148FE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66900"/>
            <a:ext cx="495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B21A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FFB21A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B9A79A-28BD-4765-AC3C-255172B1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00250"/>
            <a:ext cx="4400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55BA50-6F92-45BA-8082-0FC43954C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82880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Memory resets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6196B4-0A32-400A-BB54-9B370D0F7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162175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8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Decisions and hard-won context do not travel.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E1B6C1-0FBD-485A-9470-5D2A27C1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781300"/>
            <a:ext cx="495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BA7FD1-1484-4A51-B08B-B753F3DA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14650"/>
            <a:ext cx="4400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4B8C28-3E31-4FBE-9F71-2CF05A02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74320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Work fragments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EA6EC9-1A4E-4083-88DB-767CDB50D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076575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8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Agents and machines cannot coordinate as one crew.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DE0B38-9F59-4ECD-AB54-C98BC3EF3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695700"/>
            <a:ext cx="495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B21A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FFB21A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C8BDD6-9822-4A10-8EB5-EE8B57DBA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29050"/>
            <a:ext cx="4400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297894-4EE9-481E-A98F-C77FF62B3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65760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Spend escapes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4604A0-2B5C-45D9-B980-6D6EADB44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990975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8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Budgets and approvals live outside the work loop.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62F8DA-08F9-4CB8-85FF-AB3DDE262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610100"/>
            <a:ext cx="495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94B916-F46A-40FE-9E37-2B14C2AE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43450"/>
            <a:ext cx="4400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B3D3AD-38FD-460D-9D3C-ADCC68740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57200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Proof disappears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3394D5-F172-4361-AFA3-70E96EE5A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905375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8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A completion message does not prove the outcome.</a:t>
            </a:r>
          </a:p>
        </p:txBody>
      </p:sp>
    </p:spTree>
    <p:extLst>
      <p:ext uri="{BB962C8B-B14F-4D97-AF65-F5344CB8AC3E}">
        <p14:creationId xmlns:p14="http://schemas.microsoft.com/office/powerpoint/2010/main" val="160262453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D2BFC06E-9A34-4262-96BD-4187CC7B5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mbient-orb">
            <a:extLst xmlns:a="http://schemas.openxmlformats.org/drawingml/2006/main">
              <a:ext uri="{FF2B5EF4-FFF2-40B4-BE49-F238E27FC236}">
                <a16:creationId xmlns:a16="http://schemas.microsoft.com/office/drawing/2014/main" id="{9AC50113-6567-4B0C-9869-AA854C5FA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0"/>
            <a:ext cx="1885950" cy="1885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The solution-marker">
            <a:extLst xmlns:a="http://schemas.openxmlformats.org/drawingml/2006/main">
              <a:ext uri="{FF2B5EF4-FFF2-40B4-BE49-F238E27FC236}">
                <a16:creationId xmlns:a16="http://schemas.microsoft.com/office/drawing/2014/main" id="{5A712F09-480E-4986-944D-06A7FE800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The solution-label">
            <a:extLst xmlns:a="http://schemas.openxmlformats.org/drawingml/2006/main">
              <a:ext uri="{FF2B5EF4-FFF2-40B4-BE49-F238E27FC236}">
                <a16:creationId xmlns:a16="http://schemas.microsoft.com/office/drawing/2014/main" id="{331597BB-9E6D-41D4-BC9F-89E7D63E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T H E   S O L U T I O N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C9BEA9C-6945-4031-AF4A-CA417B528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HivemindOS turns scattered runtimes into one governed operating system.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7BFEF5-10C9-4290-A87D-B77246F39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880927A5-F60C-4039-86CB-461AE662D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933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HIVEMINDOS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5D284F57-8409-4609-8900-A3F45417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9" name="hive-core">
            <a:extLst xmlns:a="http://schemas.openxmlformats.org/drawingml/2006/main">
              <a:ext uri="{FF2B5EF4-FFF2-40B4-BE49-F238E27FC236}">
                <a16:creationId xmlns:a16="http://schemas.microsoft.com/office/drawing/2014/main" id="{9A94EFAE-70E6-417F-A565-51A9BD432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62250"/>
            <a:ext cx="2667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42"/>
          </a:solidFill>
          <a:ln xmlns:a="http://schemas.openxmlformats.org/drawingml/2006/main" w="19050">
            <a:solidFill>
              <a:srgbClr val="FFB21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C552C2-14D8-4071-9091-238BF6AC7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000375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HivemindOS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F860B3-039E-459E-84BD-BC195A742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42900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one fleet · one brain · one control plane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2F9A44-6F13-429A-B071-7006A859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343150"/>
            <a:ext cx="209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4B0813-8A74-47A3-97A8-FE5B133E7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343150"/>
            <a:ext cx="209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38D362-F4D9-48AF-9E68-ECBEC49BC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629150"/>
            <a:ext cx="209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243A60-0254-4F16-A325-74BA2F978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629150"/>
            <a:ext cx="209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F282FF-9178-4806-BD8A-AA763B99D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1847850"/>
            <a:ext cx="190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92C8C6-8538-439A-BA44-CA4C9CC70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1847850"/>
            <a:ext cx="190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43ED16-97C0-4CBE-B15C-98FA63BBB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4019550"/>
            <a:ext cx="190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83DDA3-617C-4CE5-B7CB-E59BAFCDF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4019550"/>
            <a:ext cx="190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DC9586-DDB2-41E9-9FC0-06575EB42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81200"/>
            <a:ext cx="2114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FE3CCE-B365-4BAB-8E4D-31C11F70C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8120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61350E-CAD2-49D4-BF1E-4F1E68094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Fleet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822491-77AC-43D8-B2F2-A9F9D9F06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431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trusted machines and runtimes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80C78F-4735-4343-B5FE-B5FDD873D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981200"/>
            <a:ext cx="2114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41B67C-E0FB-4A1B-8415-C56A76C78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98120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7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E9EC26-2560-486F-8FC7-A36C25A6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1455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Shared Brain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4C8E37-8658-4654-B988-08F20D7D2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3431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durable memory and skills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4462CE7-1CE6-4409-AFC6-0696B68F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67200"/>
            <a:ext cx="2114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F5B154-9BD4-4169-887B-319C3DFC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6720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41B5CD0-44B0-4AF5-BE24-E51C7C752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Bounded Work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A9ED86-90BB-48BC-A66A-2EC917021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contracts, retries, approvals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D351643-3615-4F19-8E42-C4CF7203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67200"/>
            <a:ext cx="21145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8EE807B-26FC-431B-B204-6A3D07A9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6720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E5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37ED5B1-B67A-4DC2-8911-4116B5FC6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40055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Wallet Rails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F3C041F-96EE-4D1E-B9D5-290468849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6291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controlled budgets and payments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6BD015A-4EC2-48B0-B730-62D0A8855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086350"/>
            <a:ext cx="2476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1D8C056-C60C-45FB-800B-B7BF5A71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08635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5104C3B-65E7-499D-A6F2-010A9B08C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219700"/>
            <a:ext cx="2171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Outcome Proof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C2B0C25-C4C2-4EF2-8E78-41B61F72A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448300"/>
            <a:ext cx="2171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receipts, evals, provenance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3D8C5E0-40DC-4C79-972D-6AA3E136F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86350"/>
            <a:ext cx="2476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DBB5253-A46F-4F0F-8AF5-BCDF8648C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86350"/>
            <a:ext cx="47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7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8289B00-4A94-4C31-AF96-0A619EFE1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219700"/>
            <a:ext cx="2171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Hive Fusion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068C6B7-8081-4771-A1A5-FE95A2A44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448300"/>
            <a:ext cx="2171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reusable capabilities compound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A6C9CEC-F4A9-4CC1-8690-B9DC8DFA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44830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12BFE36-416C-4FD1-B953-A0FD7B05F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6134100"/>
            <a:ext cx="5943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Runtime-neutral: Hermes · OpenClaw · OpenCode · Codex · Claude Code · Aeon · Evo</a:t>
            </a:r>
          </a:p>
        </p:txBody>
      </p:sp>
    </p:spTree>
    <p:extLst>
      <p:ext uri="{BB962C8B-B14F-4D97-AF65-F5344CB8AC3E}">
        <p14:creationId xmlns:p14="http://schemas.microsoft.com/office/powerpoint/2010/main" val="106959661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E5BD75C5-857F-4532-BDCA-CCD500EC8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mbient-orb">
            <a:extLst xmlns:a="http://schemas.openxmlformats.org/drawingml/2006/main">
              <a:ext uri="{FF2B5EF4-FFF2-40B4-BE49-F238E27FC236}">
                <a16:creationId xmlns:a16="http://schemas.microsoft.com/office/drawing/2014/main" id="{39D4370B-0B78-4E34-9584-E9E0EECCE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0"/>
            <a:ext cx="1885950" cy="1885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Flagship workflow-marker">
            <a:extLst xmlns:a="http://schemas.openxmlformats.org/drawingml/2006/main">
              <a:ext uri="{FF2B5EF4-FFF2-40B4-BE49-F238E27FC236}">
                <a16:creationId xmlns:a16="http://schemas.microsoft.com/office/drawing/2014/main" id="{1D50E12F-4CE9-4706-ADC4-1BD682BE5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Flagship workflow-label">
            <a:extLst xmlns:a="http://schemas.openxmlformats.org/drawingml/2006/main">
              <a:ext uri="{FF2B5EF4-FFF2-40B4-BE49-F238E27FC236}">
                <a16:creationId xmlns:a16="http://schemas.microsoft.com/office/drawing/2014/main" id="{C9A2B420-53A3-4077-9354-DDE87F807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F L A G S H I P   W O R K F L O W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6E91B55-A72B-4FBA-B376-702B16A74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Zero Human Companies turn a goal into a bounded operating loop.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ED4775-E6BA-4C4F-B47E-C611FA809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74C65D7C-D7F6-4449-AAB3-9AC3DD941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933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HIVEMINDOS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A757AFD0-EA23-40C3-AB89-D65EDF30A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D8BB88-83B0-48EE-B439-CCE90E968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8477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Humans retain policy, funding, and exception control. Agents own the repeatable execution inside the contract.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EA1859-EE6C-4A40-BEA5-AD726B65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457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B21A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FFB21A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0C4BDA-A034-4D97-B412-C6E91C6F7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466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400688-DBE9-44CD-9A98-B49206CB4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5755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Charter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6C39D3-D559-43EE-B05D-EB0FD5F77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goal + done contract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C463B3-A2A6-439E-8651-EF2A42E2F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019425"/>
            <a:ext cx="266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BF6543-5436-4FEA-8749-C823203DE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571750"/>
            <a:ext cx="457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D928A9-69F5-48D9-8363-6541A0554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009900"/>
            <a:ext cx="1466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B9A07E-2C5B-4DB1-9015-F2C4E63F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25755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Crew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DC6E40-90A4-49EC-B0C9-E3D9A3F04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6195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roles + capabilities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AB8A18-369F-4745-8208-94EE583D8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019425"/>
            <a:ext cx="266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8B7DC8-04D1-4358-A0F9-51A3CFEA6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571750"/>
            <a:ext cx="457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8B78FF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8B78FF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7E7374-F72E-4BDD-AC91-4053BB402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009900"/>
            <a:ext cx="1466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7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D2E446-D628-4AA4-8D2A-D9D99FEA7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25755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Run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D36037-2944-421E-88E3-269E561C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6195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dispatch + budgets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B0D282-A5A7-48D5-8AA7-B76849C3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019425"/>
            <a:ext cx="266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B77E26-3663-452A-997A-179B4570B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71750"/>
            <a:ext cx="457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4CE5A7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4CE5A7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095006-84DF-4F65-AC90-F8E7FB5D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09900"/>
            <a:ext cx="1466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E5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9E4846-BF96-4990-B791-66EEC5D09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5755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Review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F2F5148-EDA8-48D9-882F-AA2127B1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evals + approvals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9CD442-ED78-48FF-81C5-7C399FCD3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19425"/>
            <a:ext cx="266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0D0B3F-B5A5-4EFE-816C-0D5901CD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71750"/>
            <a:ext cx="457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B21A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FFB21A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9903F90-0A78-4298-BB93-870BD0240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09900"/>
            <a:ext cx="1466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4039B2-2F42-4BE6-8DA6-EA23FAB98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25755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Ship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C2AA4E0-6F42-4D4D-9AB0-F0FFACB29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6195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deliverables + receipts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6ECD26D-480A-46A0-93C5-A3F10A232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019425"/>
            <a:ext cx="266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32CA137-0E80-4BA4-B522-AFC3FDA6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571750"/>
            <a:ext cx="457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9BAC8F5-E497-4386-B84C-71B1A5A66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009900"/>
            <a:ext cx="1466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C7D478F-AFE3-447F-93F1-191D4C360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5755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Learn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BD52C9A-6D88-4066-B3D3-659B0DB0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6195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13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memory + reusable skill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C0EBD61-8BEC-4CCE-BE44-8FD86A6CF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38675"/>
            <a:ext cx="110871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FAC87E9-31EB-43F2-8EA9-8B0A6D0ED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1490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HUMAN CONTROL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AFF1966-BD1E-49E9-AC37-D898D28BE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1970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funding · policy · risky approvals · kill switch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2F13B44-D477-4FAD-867F-32A6A0368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886325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707324D-FB83-4CC8-9A3A-4F66FA51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91490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35D7FF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35D7FF"/>
                </a:solidFill>
                <a:latin typeface="Avenir Next"/>
                <a:ea typeface="Avenir Next"/>
                <a:cs typeface="Avenir Next"/>
              </a:rPr>
              <a:t>AGENT EXECUTION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D35AE8E-B146-427C-B1E8-FFA997CF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21970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bounded work · retries · evidence · handoffs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AAFED0E-3E46-4508-B9BE-69E335841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981575"/>
            <a:ext cx="1000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6B7A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F6B7A"/>
                </a:solidFill>
                <a:latin typeface="Avenir Next"/>
                <a:ea typeface="Avenir Next"/>
                <a:cs typeface="Avenir Next"/>
              </a:rPr>
              <a:t>FREEZE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CFB5688-49FB-448C-882E-901A505D4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314950"/>
            <a:ext cx="138112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0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one-switch stop</a:t>
            </a:r>
          </a:p>
        </p:txBody>
      </p:sp>
    </p:spTree>
    <p:extLst>
      <p:ext uri="{BB962C8B-B14F-4D97-AF65-F5344CB8AC3E}">
        <p14:creationId xmlns:p14="http://schemas.microsoft.com/office/powerpoint/2010/main" val="26214140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DB6B6453-8F11-49AA-BBD8-29C803279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mbient-orb">
            <a:extLst xmlns:a="http://schemas.openxmlformats.org/drawingml/2006/main">
              <a:ext uri="{FF2B5EF4-FFF2-40B4-BE49-F238E27FC236}">
                <a16:creationId xmlns:a16="http://schemas.microsoft.com/office/drawing/2014/main" id="{D2366154-F927-4741-B79B-12744DFD0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0"/>
            <a:ext cx="1885950" cy="1885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Trust model-marker">
            <a:extLst xmlns:a="http://schemas.openxmlformats.org/drawingml/2006/main">
              <a:ext uri="{FF2B5EF4-FFF2-40B4-BE49-F238E27FC236}">
                <a16:creationId xmlns:a16="http://schemas.microsoft.com/office/drawing/2014/main" id="{8C2C8B0E-E836-4829-8BBB-5BBB34894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Trust model-label">
            <a:extLst xmlns:a="http://schemas.openxmlformats.org/drawingml/2006/main">
              <a:ext uri="{FF2B5EF4-FFF2-40B4-BE49-F238E27FC236}">
                <a16:creationId xmlns:a16="http://schemas.microsoft.com/office/drawing/2014/main" id="{CB93AF5D-2436-45F2-9F2B-9D22E5563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T R U S T   M O D E L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FB96122-2A4D-432A-8EF7-615FDFC51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Autonomy expands only when evidence earns 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EAC376-744B-4372-827E-8DD618D9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39C9F560-C7EB-4FB1-BE90-578820BA2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933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HIVEMINDOS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1BE46415-71FA-48F0-8469-865F31135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05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1169BF-599C-46C3-A7F7-CD0AB1A2E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19650"/>
            <a:ext cx="1428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9AA9B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82FA71-829E-4428-843F-5CD77A5E8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62525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9AA9BE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9AA9BE"/>
                </a:solidFill>
                <a:latin typeface="Georgia"/>
                <a:ea typeface="Georgia"/>
                <a:cs typeface="Georgia"/>
              </a:rPr>
              <a:t>L0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2CC62D-7D3F-48CA-92C2-B4580B6C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9339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Setup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BBCCCA-D76F-41B5-BA17-4F4E8582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435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1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1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pieces exist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9118BB-9629-4629-B0C8-93A147803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43350"/>
            <a:ext cx="238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35D7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1C2E9D-2FA7-4437-9688-AF01474DA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86225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L1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1B4E20-3A09-48A0-9934-5CD8B07FA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576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Report-only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399A02-135C-4B19-BB62-C65317B7F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267200"/>
            <a:ext cx="1524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1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1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human-reviewed runs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76B330-53E9-4DE4-AF9E-412A03E63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67050"/>
            <a:ext cx="3333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8B78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D84D51-7DCB-4755-9EBC-A1E22638C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09925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B78FF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8B78FF"/>
                </a:solidFill>
                <a:latin typeface="Georgia"/>
                <a:ea typeface="Georgia"/>
                <a:cs typeface="Georgia"/>
              </a:rPr>
              <a:t>L2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6A28D3-C1EC-405C-A6B1-F9719CC19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813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Assisted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F82E27-9F4A-40E9-A60C-FFBAD829D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90900"/>
            <a:ext cx="2476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1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1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contracts + eval gates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0F809E-5B7D-4222-A598-C9297860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90750"/>
            <a:ext cx="4286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42"/>
          </a:solidFill>
          <a:ln xmlns:a="http://schemas.openxmlformats.org/drawingml/2006/main" w="19050">
            <a:solidFill>
              <a:srgbClr val="4CE5A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5F62EE-4AF4-4A48-92E2-E67E5BEC6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33625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4CE5A7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4CE5A7"/>
                </a:solidFill>
                <a:latin typeface="Georgia"/>
                <a:ea typeface="Georgia"/>
                <a:cs typeface="Georgia"/>
              </a:rPr>
              <a:t>L3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38B1D7-3D00-45C2-97B0-4351677CE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3050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Bounded unattended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BC48CA-FF8B-47F2-9E47-C271817C3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51460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1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1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budgets + receipts + handoffs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9E8376-645B-4334-8728-63FE6AF8B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05000"/>
            <a:ext cx="4286250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2F2CBF-37AC-4FF3-9533-B85D77604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2098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EVERY LOOP CARRIES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051B70-2751-4061-BA87-3C4C7FCE6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686050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B21A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FFB21A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D76DE7-6341-4726-9D09-0BE483ECE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676525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Success contract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94C3E6-07FE-4AE3-BB47-73138A0B2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05125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what done means before work starts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057885-54B2-4AB2-AFC9-6F79F7D16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276600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299862-A26E-42EC-A0BB-33493C8E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267075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Evaluation gates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5A2960B-171E-4047-864E-D11D00489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495675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evidence checked before completion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D277BBF-61E2-4676-B09C-113CCEAD0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67150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B21A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FFB21A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82A0A90-1D84-46CF-AD4B-80E152535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857625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Spend boundaries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8AD18DE-5D00-4696-90E5-6045F287A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086225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run, retry, and money limits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B68B3AA-BC4B-4523-88A5-FDD9FEED2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457700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E3F3AD-8E90-4659-B23F-366804FEF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448175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Attribution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AD63608-F8F9-4625-84CD-071618550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676775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who did what, when, and why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75D79A2-1A91-415B-931F-7D31D8D83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524500"/>
            <a:ext cx="428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200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The product is not 'more autonomy.' It is a measurable path to safer autonomy.</a:t>
            </a:r>
          </a:p>
        </p:txBody>
      </p:sp>
    </p:spTree>
    <p:extLst>
      <p:ext uri="{BB962C8B-B14F-4D97-AF65-F5344CB8AC3E}">
        <p14:creationId xmlns:p14="http://schemas.microsoft.com/office/powerpoint/2010/main" val="202788059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683C7494-9E33-4AE0-A37E-9C5441EE2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mbient-orb">
            <a:extLst xmlns:a="http://schemas.openxmlformats.org/drawingml/2006/main">
              <a:ext uri="{FF2B5EF4-FFF2-40B4-BE49-F238E27FC236}">
                <a16:creationId xmlns:a16="http://schemas.microsoft.com/office/drawing/2014/main" id="{66CAF6F0-7189-4157-84E6-D37B1FFC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0"/>
            <a:ext cx="1885950" cy="1885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Compounding advantage-marker">
            <a:extLst xmlns:a="http://schemas.openxmlformats.org/drawingml/2006/main">
              <a:ext uri="{FF2B5EF4-FFF2-40B4-BE49-F238E27FC236}">
                <a16:creationId xmlns:a16="http://schemas.microsoft.com/office/drawing/2014/main" id="{EB7B3C59-31DD-456F-8BB7-8FC028F20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Compounding advantage-label">
            <a:extLst xmlns:a="http://schemas.openxmlformats.org/drawingml/2006/main">
              <a:ext uri="{FF2B5EF4-FFF2-40B4-BE49-F238E27FC236}">
                <a16:creationId xmlns:a16="http://schemas.microsoft.com/office/drawing/2014/main" id="{36A37495-D2C6-411F-9592-CA027AB6D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C O M P O U N D I N G   A D V A N T A G E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D7CEF1F-5DDF-4053-A3E8-D4B689539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Shared operational memory lowers repeated model work.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D987F9-DAD0-4775-BD3F-A5148D00E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4007791A-6265-4EF0-A18B-F2F978F4B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933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HIVEMINDOS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07C04115-2455-435F-9629-49A2DDB81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06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B05604-1127-4897-AB8D-20454C749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52625"/>
            <a:ext cx="3714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FFB21A"/>
                </a:solidFill>
                <a:latin typeface="Georgia"/>
                <a:ea typeface="Georgia"/>
                <a:cs typeface="Georgia"/>
              </a:defRPr>
            </a:pPr>
            <a:r>
              <a:rPr sz="5700" b="1">
                <a:solidFill>
                  <a:srgbClr val="FFB21A"/>
                </a:solidFill>
                <a:latin typeface="Georgia"/>
                <a:ea typeface="Georgia"/>
                <a:cs typeface="Georgia"/>
              </a:rPr>
              <a:t>99.2%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46B810-D8BE-4156-8418-D39FAC7F0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81325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fewer tokens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E50A67-05E0-42DF-B8DA-5C904A747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90900"/>
            <a:ext cx="2857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43,754  →  370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953BB6-D08F-40C8-BC09-32AB69E20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24300"/>
            <a:ext cx="3429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Provider-reported shared-brain recall benchmark. It is evidence of mechanism—not a blanket customer savings forecast.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A4E498-8C23-4F76-B59A-345E955EB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047875"/>
            <a:ext cx="400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860B4F-9757-476F-8944-4892D9DE6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1812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D1E6C3-9C3D-4C39-A626-533ADBBEE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2882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Shared recall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106723-85AC-427F-997C-81B340E4C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09825"/>
            <a:ext cx="4762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8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The fleet retrieves prior decisions instead of rebuilding context.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CCC9F7-EB0F-43CF-835F-74896273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14675"/>
            <a:ext cx="400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B78FF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8B78FF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70CC9C-B34B-4DF4-8D4B-0C5C2201F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2480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485B2A-50A3-41BC-8A45-3163CC5AC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09562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Hive Fusion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C0C1C3-984D-41AD-A422-F807D13B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476625"/>
            <a:ext cx="4762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8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A successful workflow becomes a reusable capability for every agent.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62AC7F-D600-42E9-8088-57395B865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181475"/>
            <a:ext cx="400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4CE5A7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4CE5A7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C0C91B-A5E1-4535-B836-B57B6167F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314825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CBA25E-8BD6-410D-B0D5-F34D99E4F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162425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Evals + lineage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DEC907-EF94-4517-A4E3-16013D3B7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543425"/>
            <a:ext cx="4762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8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Better methods survive; weak methods are measured and replaced.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BC5FBE-8B54-4895-9832-BDF27F801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381625"/>
            <a:ext cx="59245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42"/>
          </a:solidFill>
          <a:ln xmlns:a="http://schemas.openxmlformats.org/drawingml/2006/main" w="9525">
            <a:solidFill>
              <a:srgbClr val="FFB21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44FD38-6DCF-4CC6-89F1-E632FA7D8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581650"/>
            <a:ext cx="5467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MORE RUNS  →  MORE REUSABLE CONTEXT  →  LOWER REPEATED WORK</a:t>
            </a:r>
          </a:p>
        </p:txBody>
      </p:sp>
    </p:spTree>
    <p:extLst>
      <p:ext uri="{BB962C8B-B14F-4D97-AF65-F5344CB8AC3E}">
        <p14:creationId xmlns:p14="http://schemas.microsoft.com/office/powerpoint/2010/main" val="148288470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7959D2FA-6C93-4980-993F-37647502D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mbient-orb">
            <a:extLst xmlns:a="http://schemas.openxmlformats.org/drawingml/2006/main">
              <a:ext uri="{FF2B5EF4-FFF2-40B4-BE49-F238E27FC236}">
                <a16:creationId xmlns:a16="http://schemas.microsoft.com/office/drawing/2014/main" id="{E4FDA2EC-48F5-40E4-9365-11031D7A3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0"/>
            <a:ext cx="1885950" cy="1885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Why now-marker">
            <a:extLst xmlns:a="http://schemas.openxmlformats.org/drawingml/2006/main">
              <a:ext uri="{FF2B5EF4-FFF2-40B4-BE49-F238E27FC236}">
                <a16:creationId xmlns:a16="http://schemas.microsoft.com/office/drawing/2014/main" id="{043F2AD5-96DE-4AB4-817C-BA181BC5C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Why now-label">
            <a:extLst xmlns:a="http://schemas.openxmlformats.org/drawingml/2006/main">
              <a:ext uri="{FF2B5EF4-FFF2-40B4-BE49-F238E27FC236}">
                <a16:creationId xmlns:a16="http://schemas.microsoft.com/office/drawing/2014/main" id="{12B561B5-6725-4962-AE2F-24697967D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W H Y   N O W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21CF86B-FFCA-4822-9E16-F3C07D4FA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Agent proliferation creates demand for a neutral operating layer.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B3F8B4-B7C4-40DF-90DC-B2FE5C896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1C5A92CD-B9F4-470D-B09C-CBCBB9322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933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HIVEMINDOS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5F446578-4DF0-4B6C-8D95-BAD80BF5E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07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0931FA-44F7-4B43-B22C-79CDF05B6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38350"/>
            <a:ext cx="3143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AGENT SPRAWL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C05AF9-CD54-42BB-925C-8E232F45F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457450"/>
            <a:ext cx="285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42"/>
          </a:solidFill>
          <a:ln xmlns:a="http://schemas.openxmlformats.org/drawingml/2006/main" w="9525">
            <a:solidFill>
              <a:srgbClr val="FFB21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0E30E0-ACDB-480B-B617-B3D899C01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24350"/>
            <a:ext cx="25336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Every runtime adds another silo, context boundary, and operating surface.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455126-0151-40AA-AEC8-D6887D61F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019550"/>
            <a:ext cx="95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968B39-71B3-40A0-A3BE-B55656139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3143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35D7FF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35D7FF"/>
                </a:solidFill>
                <a:latin typeface="Avenir Next"/>
                <a:ea typeface="Avenir Next"/>
                <a:cs typeface="Avenir Next"/>
              </a:rPr>
              <a:t>LOCAL TRUST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1E3772-B579-4E42-9289-BDDC40D3F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457450"/>
            <a:ext cx="285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42"/>
          </a:solidFill>
          <a:ln xmlns:a="http://schemas.openxmlformats.org/drawingml/2006/main" w="9525">
            <a:solidFill>
              <a:srgbClr val="35D7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888E00-77FC-4FB1-B436-ABBC20838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24350"/>
            <a:ext cx="25336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Real work requires private links, user-owned data, and explicit control.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688EFA-C7B4-441E-B4B0-DA5766F05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019550"/>
            <a:ext cx="95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DB8396-67A4-4B77-BE96-43B4D6281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038350"/>
            <a:ext cx="3143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8B78FF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8B78FF"/>
                </a:solidFill>
                <a:latin typeface="Avenir Next"/>
                <a:ea typeface="Avenir Next"/>
                <a:cs typeface="Avenir Next"/>
              </a:rPr>
              <a:t>MACHINE COMMERCE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AE94C5-EBF2-402C-A3D5-6009ACB4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457450"/>
            <a:ext cx="285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42"/>
          </a:solidFill>
          <a:ln xmlns:a="http://schemas.openxmlformats.org/drawingml/2006/main" w="9525">
            <a:solidFill>
              <a:srgbClr val="8B78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8C39D2-F282-4823-8125-DD5E9BA7D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324350"/>
            <a:ext cx="25336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Wallets and pay-per-use APIs let software hold budgets and buy services.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9B2413-2D98-4B9D-BC5E-34E7DE169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019550"/>
            <a:ext cx="95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7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AF4CB9-9EB5-4DE0-88C0-40E9C12E6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391150"/>
            <a:ext cx="5410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19050">
            <a:solidFill>
              <a:srgbClr val="FFB21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314A96-4F4E-4AA3-8AD4-FBBE526F1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572125"/>
            <a:ext cx="4610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THE OPERATING LAYER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FABFF3-3F4B-48F5-BB63-FCA995AC7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800725"/>
            <a:ext cx="4610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788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memory + coordination + governance + economic agency</a:t>
            </a:r>
          </a:p>
        </p:txBody>
      </p:sp>
    </p:spTree>
    <p:extLst>
      <p:ext uri="{BB962C8B-B14F-4D97-AF65-F5344CB8AC3E}">
        <p14:creationId xmlns:p14="http://schemas.microsoft.com/office/powerpoint/2010/main" val="185625333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B1E0BA45-173D-4BC4-BD3B-29B6BC42F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mbient-orb">
            <a:extLst xmlns:a="http://schemas.openxmlformats.org/drawingml/2006/main">
              <a:ext uri="{FF2B5EF4-FFF2-40B4-BE49-F238E27FC236}">
                <a16:creationId xmlns:a16="http://schemas.microsoft.com/office/drawing/2014/main" id="{0FE812C1-AC23-4FE5-B882-8B0D9AFDD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0"/>
            <a:ext cx="1885950" cy="1885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Commercial thesis-marker">
            <a:extLst xmlns:a="http://schemas.openxmlformats.org/drawingml/2006/main">
              <a:ext uri="{FF2B5EF4-FFF2-40B4-BE49-F238E27FC236}">
                <a16:creationId xmlns:a16="http://schemas.microsoft.com/office/drawing/2014/main" id="{F8F97FDE-383B-4548-85CA-4F076E6A6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Commercial thesis-label">
            <a:extLst xmlns:a="http://schemas.openxmlformats.org/drawingml/2006/main">
              <a:ext uri="{FF2B5EF4-FFF2-40B4-BE49-F238E27FC236}">
                <a16:creationId xmlns:a16="http://schemas.microsoft.com/office/drawing/2014/main" id="{B685960F-3FEA-4796-9658-70C9E51C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C O M M E R C I A L   T H E S I S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95B2049-26CC-4197-BB64-275F9792D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One commercial engine is enough: Hivemind Cloud.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6078E8-D447-45D2-A281-C7A6312F8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F75F8DFC-79B9-4E11-8D5E-E3867F21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933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Commercial policy: docs/for-investors/  ·  launch pricing remains under validation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8DAB08C5-7EA7-44E7-B6DC-65DE28A48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08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22D8C0-1FF8-496C-9949-5A748F019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7810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The product relationship deepens in one direction. New revenue layers are expansion inside the same managed operations platform—not separate companies.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EB4A6A-72E5-448F-83AD-2524CE133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05050"/>
            <a:ext cx="8572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35D7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7A2ADD-21C8-46C5-8D90-3636BBA1C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857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35D7FF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35D7FF"/>
                </a:solidFill>
                <a:latin typeface="Avenir Next"/>
                <a:ea typeface="Avenir Next"/>
                <a:cs typeface="Avenir Next"/>
              </a:rPr>
              <a:t>ACQUIRE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BDD2AF-878F-4F20-ADCD-98CA70C35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4003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Free local HivemindOS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C2D6DC-8852-414C-84BD-C2107AA4F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495550"/>
            <a:ext cx="45243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open source · BYOK · self-hosted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F87E36-5BE1-4BC8-B080-6E9DA5F0B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752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FFB21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C541C0-1A70-45D4-93CD-A7882A055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09925"/>
            <a:ext cx="857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ACTIVATE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3C31E7-5432-4840-AED7-48A8FD4A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10515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First managed service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A2605B-4FF1-4582-AB1B-C1C4A23B7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200400"/>
            <a:ext cx="3476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host a site · keep an agent 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63FA70-083C-405F-9FB6-E47895E8A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714750"/>
            <a:ext cx="6477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42"/>
          </a:solidFill>
          <a:ln xmlns:a="http://schemas.openxmlformats.org/drawingml/2006/main" w="19050">
            <a:solidFill>
              <a:srgbClr val="4CE5A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F2702A-C115-440B-B8E1-1218D4793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14775"/>
            <a:ext cx="857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4CE5A7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4CE5A7"/>
                </a:solidFill>
                <a:latin typeface="Avenir Next"/>
                <a:ea typeface="Avenir Next"/>
                <a:cs typeface="Avenir Next"/>
              </a:rPr>
              <a:t>RETAIN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597E8E-6A11-4726-8103-EB78E3B4F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8100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Cloud subscription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2A6008-A703-4A7E-8D95-67E58980D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3905250"/>
            <a:ext cx="24288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persistent control plane + governance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42E9D8-66F4-490F-8B25-59FBCC2B9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19600"/>
            <a:ext cx="5429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8B78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BAB82A-1680-4512-A2D3-33E59E438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19625"/>
            <a:ext cx="857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8B78FF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8B78FF"/>
                </a:solidFill>
                <a:latin typeface="Avenir Next"/>
                <a:ea typeface="Avenir Next"/>
                <a:cs typeface="Avenir Next"/>
              </a:rPr>
              <a:t>EXPAND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379F7F-C18F-4AAA-91AC-41BAF0F0C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51485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Metered managed usage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A3D2D5-7B8C-40A2-9580-D9B6D2AF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724400"/>
            <a:ext cx="39814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58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agents · models · APIs · hosting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E0DE9E-A1AB-4856-B0AF-5C51ABDF9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124450"/>
            <a:ext cx="438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35D7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C6FB0C-C899-414A-B792-B9E4613F3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324475"/>
            <a:ext cx="857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35D7FF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35D7FF"/>
                </a:solidFill>
                <a:latin typeface="Avenir Next"/>
                <a:ea typeface="Avenir Next"/>
                <a:cs typeface="Avenir Next"/>
              </a:rPr>
              <a:t>MOVE UP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900C13-3B99-4782-9AED-2A8BF167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2197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Enterprise controls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3E9D291-FD14-408C-9405-D09F84382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429250"/>
            <a:ext cx="29337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58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private deploy · identity · SLA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55D09B-7E15-469B-A7D0-6A3F491D7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43150"/>
            <a:ext cx="22669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C54262-E51D-47CB-A6D9-7AEB8B3F9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62890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6B7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6B7A"/>
                </a:solidFill>
                <a:latin typeface="Avenir Next"/>
                <a:ea typeface="Avenir Next"/>
                <a:cs typeface="Avenir Next"/>
              </a:rPr>
              <a:t>NOT THE THESIS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9E0352A-E209-4426-8E94-3A2043B84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009900"/>
            <a:ext cx="16383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Eight fee businesses launched at once.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9B4CA04-59CB-4AC2-85F3-D0DF9E56A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943350"/>
            <a:ext cx="1466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FD12C80-000F-474D-8D08-7C5E4BE70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229100"/>
            <a:ext cx="1619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863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Wallet fees</a:t>
            </a:r>
          </a:p>
          <a:p xmlns:a="http://schemas.openxmlformats.org/drawingml/2006/main">
            <a:pPr algn="l">
              <a:defRPr sz="863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863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Token buybacks</a:t>
            </a:r>
          </a:p>
          <a:p xmlns:a="http://schemas.openxmlformats.org/drawingml/2006/main">
            <a:pPr algn="l">
              <a:defRPr sz="863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863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Revenue sharing</a:t>
            </a:r>
          </a:p>
          <a:p xmlns:a="http://schemas.openxmlformats.org/drawingml/2006/main">
            <a:pPr algn="l">
              <a:defRPr sz="863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863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Marketplace before demand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A2605CC-18F4-4EC5-AD5F-502AF9F1C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5448300"/>
            <a:ext cx="1619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DEFERRED</a:t>
            </a:r>
          </a:p>
        </p:txBody>
      </p:sp>
    </p:spTree>
    <p:extLst>
      <p:ext uri="{BB962C8B-B14F-4D97-AF65-F5344CB8AC3E}">
        <p14:creationId xmlns:p14="http://schemas.microsoft.com/office/powerpoint/2010/main" val="53801988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8AC11C9C-65E1-4EAC-81B0-14717CCD8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mbient-orb">
            <a:extLst xmlns:a="http://schemas.openxmlformats.org/drawingml/2006/main">
              <a:ext uri="{FF2B5EF4-FFF2-40B4-BE49-F238E27FC236}">
                <a16:creationId xmlns:a16="http://schemas.microsoft.com/office/drawing/2014/main" id="{3B9302C4-C4AB-452C-B437-2410544A1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0"/>
            <a:ext cx="1885950" cy="1885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Free-to-paid boundary-marker">
            <a:extLst xmlns:a="http://schemas.openxmlformats.org/drawingml/2006/main">
              <a:ext uri="{FF2B5EF4-FFF2-40B4-BE49-F238E27FC236}">
                <a16:creationId xmlns:a16="http://schemas.microsoft.com/office/drawing/2014/main" id="{1EFFEED6-58CC-439D-A176-F2B95EF25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Free-to-paid boundary-label">
            <a:extLst xmlns:a="http://schemas.openxmlformats.org/drawingml/2006/main">
              <a:ext uri="{FF2B5EF4-FFF2-40B4-BE49-F238E27FC236}">
                <a16:creationId xmlns:a16="http://schemas.microsoft.com/office/drawing/2014/main" id="{89208E74-AF56-4785-9079-E3B5E9167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F R E E - T O - P A I D   B O U N D A R Y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6CFCFBC-247B-47D7-B182-4394E9312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The open core earns trust. Managed continuity earns revenue.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16EB78-FC30-440B-A451-FF7EB507A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75FE154A-ED48-48FB-B7B7-35FDE525A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933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Commercial boundary: docs/for-investors/index.md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178176AE-2CE7-43B8-91CD-242A7B69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09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7E69EB-8702-41B6-B340-8F70E3085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49530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35D7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CA2007-0250-4263-87E8-EA190FE75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790700"/>
            <a:ext cx="55245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42"/>
          </a:solidFill>
          <a:ln xmlns:a="http://schemas.openxmlformats.org/drawingml/2006/main" w="19050">
            <a:solidFill>
              <a:srgbClr val="FFB21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2A715C-0453-4F04-98B9-C1C83F35E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5740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35D7FF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35D7FF"/>
                </a:solidFill>
                <a:latin typeface="Avenir Next"/>
                <a:ea typeface="Avenir Next"/>
                <a:cs typeface="Avenir Next"/>
              </a:rPr>
              <a:t>FREE LOCAL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389B97-36FE-4EA4-B2F0-48352777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19350"/>
            <a:ext cx="3429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2250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Own the stack.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E469B8-46F9-4B45-AC78-B3DBA2993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50BDE0-0A3F-47A6-9435-8E9675C20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3486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Local agents and memory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E3422C-F71B-44F1-B756-F40CC6C9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766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CB4767-6D81-4A17-A338-64D70F89C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76650"/>
            <a:ext cx="3486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BYOK models and APIs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2FFFC9-E071-4208-9A13-5DD91C55F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719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B56F07-07F4-4CBF-9A17-74113385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71950"/>
            <a:ext cx="3486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Linked user-owned machines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501622-D795-46D7-A904-FEC93BEDA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672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C5839A-19A0-48EC-830A-1608F0ABF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667250"/>
            <a:ext cx="3486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Self-hosted runtimes and workflows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9CC101-9E9B-4114-A53C-248CB3A6C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PAID MANAGED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9329BB-FF4A-4549-AC52-0C7FBCCF1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19350"/>
            <a:ext cx="4381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2250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Delegate the operation.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F351BD-38A2-4A27-BA2C-04BA7FE20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1813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B21A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FFB21A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B382AF-E402-46D7-8D10-8941E568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181350"/>
            <a:ext cx="4248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Always-on agent runtime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0A5A2C-77D3-401C-AC5E-64B372CBA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6766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B21A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FFB21A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9672A9-6848-4DE8-8A81-9E7C4F075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676650"/>
            <a:ext cx="4248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Hosted schedules, monitoring, and history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286DA6-80FC-4D2C-8B80-0BEF855C8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719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B21A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FFB21A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F8D2DF-61D3-491A-AF09-87CB60E3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171950"/>
            <a:ext cx="4248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Shared approvals, budgets, and audit trail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2B5D97-19E6-46AB-8589-45234204F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6672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B21A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FFB21A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4C036F-95BC-4127-9E63-7E616C20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667250"/>
            <a:ext cx="4248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38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Managed hosting, models, APIs, identity, and support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CF859-ECDF-4AE5-9BD1-B15BE783F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829300"/>
            <a:ext cx="6705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4B1164-B05F-418C-A481-56F001132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953125"/>
            <a:ext cx="624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713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THE PAYWALL IS THE ONGOING SERVICE—NOT THE USER'S OWN AGENTS, DATA, OR MACHINES.</a:t>
            </a:r>
          </a:p>
        </p:txBody>
      </p:sp>
    </p:spTree>
    <p:extLst>
      <p:ext uri="{BB962C8B-B14F-4D97-AF65-F5344CB8AC3E}">
        <p14:creationId xmlns:p14="http://schemas.microsoft.com/office/powerpoint/2010/main" val="27723590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9CD1C005-85E7-466E-9A8B-2A04DEC9F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mbient-orb">
            <a:extLst xmlns:a="http://schemas.openxmlformats.org/drawingml/2006/main">
              <a:ext uri="{FF2B5EF4-FFF2-40B4-BE49-F238E27FC236}">
                <a16:creationId xmlns:a16="http://schemas.microsoft.com/office/drawing/2014/main" id="{0DAAF47E-0020-4D78-A419-2CEFDCE9A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0"/>
            <a:ext cx="1885950" cy="1885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Commercial packaging-marker">
            <a:extLst xmlns:a="http://schemas.openxmlformats.org/drawingml/2006/main">
              <a:ext uri="{FF2B5EF4-FFF2-40B4-BE49-F238E27FC236}">
                <a16:creationId xmlns:a16="http://schemas.microsoft.com/office/drawing/2014/main" id="{1DC3256A-545A-4D96-AE7C-E897A4862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Commercial packaging-label">
            <a:extLst xmlns:a="http://schemas.openxmlformats.org/drawingml/2006/main">
              <a:ext uri="{FF2B5EF4-FFF2-40B4-BE49-F238E27FC236}">
                <a16:creationId xmlns:a16="http://schemas.microsoft.com/office/drawing/2014/main" id="{09164803-820A-49D9-8F45-732CF746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C O M M E R C I A L   P A C K A G I N G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78FD81D-0A8D-4256-BDA4-E68D92816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A small pricing ladder tests willingness to pay without hiding cost.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93C2E8-E317-45E9-9CB6-09E23789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87A648B7-5928-4DFE-82BC-4F5B9E708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933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Prices are launch hypotheses under design-partner validation—not proven demand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B554CF39-0B8D-4D2E-B4B0-1A99CD7B0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31A539-8ED4-4323-8C1C-E8EC94C70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8001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42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AC3B5A-45B1-4820-917D-375773EA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24075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PLAN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070F83-DED2-4BBB-B0B6-51489F3EE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24075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PRICE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8A75CA-6DA1-41FF-90C8-9CA7DD895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124075"/>
            <a:ext cx="2152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WHO IT SERVES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0D36BA-8ADB-487F-8E2F-DB03CF02C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24075"/>
            <a:ext cx="2152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WHAT IT PROVES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2348CF-4CD0-4216-90A8-C0F2E367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67050"/>
            <a:ext cx="800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C5D2C1-46C2-46A3-88CD-937828F5B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95575"/>
            <a:ext cx="1581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Community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C3A2FA-4E07-461B-9027-13C059ED1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695575"/>
            <a:ext cx="1200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35D7FF"/>
                </a:solidFill>
                <a:latin typeface="Avenir Next"/>
                <a:ea typeface="Avenir Next"/>
                <a:cs typeface="Avenir Next"/>
              </a:defRPr>
            </a:pPr>
            <a:r>
              <a:rPr sz="1013" b="1">
                <a:solidFill>
                  <a:srgbClr val="35D7FF"/>
                </a:solidFill>
                <a:latin typeface="Avenir Next"/>
                <a:ea typeface="Avenir Next"/>
                <a:cs typeface="Avenir Next"/>
              </a:rPr>
              <a:t>Free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624036-63D8-428D-8C04-4D32B2986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695575"/>
            <a:ext cx="2152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Local builders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CBA01E-F45D-4EC3-AFEA-E930E9C5F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95575"/>
            <a:ext cx="2152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Adoption + trust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FBBA76-B84A-48B0-84D5-95ECE4A40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76650"/>
            <a:ext cx="800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372652-94F6-43D6-8060-80E9ADFEB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05175"/>
            <a:ext cx="1581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Cloud Pro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7A9B1C-39B8-44B0-B656-56B3E4F25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05175"/>
            <a:ext cx="1200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35D7FF"/>
                </a:solidFill>
                <a:latin typeface="Avenir Next"/>
                <a:ea typeface="Avenir Next"/>
                <a:cs typeface="Avenir Next"/>
              </a:defRPr>
            </a:pPr>
            <a:r>
              <a:rPr sz="1013" b="1">
                <a:solidFill>
                  <a:srgbClr val="35D7FF"/>
                </a:solidFill>
                <a:latin typeface="Avenir Next"/>
                <a:ea typeface="Avenir Next"/>
                <a:cs typeface="Avenir Next"/>
              </a:rPr>
              <a:t>$39 / month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C02B8D-A1F3-4A99-82A8-A4B3149BB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305175"/>
            <a:ext cx="2152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One-person operations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D62D61-9A91-42F2-8CD6-2D3B0EB67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305175"/>
            <a:ext cx="2152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Recurring managed value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B2A68A-F409-477C-9A74-16C5085FC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86250"/>
            <a:ext cx="800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DF3C5C-21CF-48DF-9042-07F430386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14775"/>
            <a:ext cx="1581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Cloud Team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36B6A5-348C-43E5-AA48-38FD5FCEA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914775"/>
            <a:ext cx="1200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35D7FF"/>
                </a:solidFill>
                <a:latin typeface="Avenir Next"/>
                <a:ea typeface="Avenir Next"/>
                <a:cs typeface="Avenir Next"/>
              </a:defRPr>
            </a:pPr>
            <a:r>
              <a:rPr sz="1013" b="1">
                <a:solidFill>
                  <a:srgbClr val="35D7FF"/>
                </a:solidFill>
                <a:latin typeface="Avenir Next"/>
                <a:ea typeface="Avenir Next"/>
                <a:cs typeface="Avenir Next"/>
              </a:rPr>
              <a:t>$299 / month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956C17-EDDF-48D2-AC37-F6FF3D67B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914775"/>
            <a:ext cx="2152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Five-member workspace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846CF6-5DFD-41DD-B408-F8D41C09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14775"/>
            <a:ext cx="2152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Governance + collaboration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7F2B427-EF6A-4EDE-836E-F40EA2FEB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95850"/>
            <a:ext cx="800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8CD24DC-AFBB-45BF-BE35-B6611CB81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24375"/>
            <a:ext cx="1581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Enterprise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AAA5E3-C32D-44E8-9C36-9DA132A5C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524375"/>
            <a:ext cx="1200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35D7FF"/>
                </a:solidFill>
                <a:latin typeface="Avenir Next"/>
                <a:ea typeface="Avenir Next"/>
                <a:cs typeface="Avenir Next"/>
              </a:defRPr>
            </a:pPr>
            <a:r>
              <a:rPr sz="1013" b="1">
                <a:solidFill>
                  <a:srgbClr val="35D7FF"/>
                </a:solidFill>
                <a:latin typeface="Avenir Next"/>
                <a:ea typeface="Avenir Next"/>
                <a:cs typeface="Avenir Next"/>
              </a:rPr>
              <a:t>$30K / year min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B336150-F97C-4B5C-A5BC-AD9FDD10F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524375"/>
            <a:ext cx="2152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Private/BYOC teams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8E85A45-B54D-4D90-8E30-E186835B8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524375"/>
            <a:ext cx="2152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Security + support premium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1038E0-9AF5-4CB7-981D-B2EFA5F24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000250"/>
            <a:ext cx="2743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19050">
            <a:solidFill>
              <a:srgbClr val="FFB21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C95791A-DB34-4440-9E40-AD6CFF63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286000"/>
            <a:ext cx="2209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DESIGN-PARTNER PILOT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2BE8B55-C52B-4A1C-937B-77C700393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686050"/>
            <a:ext cx="2209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2850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$5,000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B138CD9-D2FC-49FE-BF23-B466B48F2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219450"/>
            <a:ext cx="2209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six weeks · paid upfront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6B6FEBF-9600-4226-9CF1-52A18EB99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638550"/>
            <a:ext cx="207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1597051-29B8-4B7A-B4CC-36250C91D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838575"/>
            <a:ext cx="21526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one production workflow</a:t>
            </a:r>
          </a:p>
          <a:p xmlns:a="http://schemas.openxmlformats.org/drawingml/2006/main">
            <a:pPr algn="l">
              <a:def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up to three managed agents</a:t>
            </a:r>
          </a:p>
          <a:p xmlns:a="http://schemas.openxmlformats.org/drawingml/2006/main">
            <a:pPr algn="l">
              <a:def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monitoring + approvals</a:t>
            </a:r>
          </a:p>
          <a:p xmlns:a="http://schemas.openxmlformats.org/drawingml/2006/main">
            <a:pPr algn="l">
              <a:def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863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outcome receipts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1716BED-28C4-41C8-8DB5-5CBFF0B45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276850"/>
            <a:ext cx="27432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125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Subscriptions cover the control plane. Variable infrastructure remains metered.</a:t>
            </a:r>
          </a:p>
        </p:txBody>
      </p:sp>
    </p:spTree>
    <p:extLst>
      <p:ext uri="{BB962C8B-B14F-4D97-AF65-F5344CB8AC3E}">
        <p14:creationId xmlns:p14="http://schemas.microsoft.com/office/powerpoint/2010/main" val="189340582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EF5A7656-C70B-45C9-975B-359677CCB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mbient-orb">
            <a:extLst xmlns:a="http://schemas.openxmlformats.org/drawingml/2006/main">
              <a:ext uri="{FF2B5EF4-FFF2-40B4-BE49-F238E27FC236}">
                <a16:creationId xmlns:a16="http://schemas.microsoft.com/office/drawing/2014/main" id="{39A4D64E-8B21-4174-BBBD-F063717B6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0"/>
            <a:ext cx="1885950" cy="1885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Expansion economics-marker">
            <a:extLst xmlns:a="http://schemas.openxmlformats.org/drawingml/2006/main">
              <a:ext uri="{FF2B5EF4-FFF2-40B4-BE49-F238E27FC236}">
                <a16:creationId xmlns:a16="http://schemas.microsoft.com/office/drawing/2014/main" id="{EFF0CB04-94E7-43FE-9491-3929F3478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Expansion economics-label">
            <a:extLst xmlns:a="http://schemas.openxmlformats.org/drawingml/2006/main">
              <a:ext uri="{FF2B5EF4-FFF2-40B4-BE49-F238E27FC236}">
                <a16:creationId xmlns:a16="http://schemas.microsoft.com/office/drawing/2014/main" id="{629EDCDC-53C1-4486-996F-32B72BABB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E X P A N S I O N   E C O N O M I C S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D00E04F-98C2-42FD-BBD2-D8D38268F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Subscriptions create the floor. Metered usage expands each retained workspace.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480478-50D0-43F0-99AC-5F8B61316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0AF30496-EDBF-4A90-A9DF-D445C159B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933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Server-owned catalog examples: docs/for-investors/index.md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E501D849-9442-458B-9BEC-9B97400F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11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5F6725-4C8C-4E50-9887-8ED6431B4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Recurring base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82AEFE-559B-4100-832C-0D693E08B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71700"/>
            <a:ext cx="3048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42"/>
          </a:solidFill>
          <a:ln xmlns:a="http://schemas.openxmlformats.org/drawingml/2006/main" w="19050">
            <a:solidFill>
              <a:srgbClr val="FFB21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282198-0482-4E67-996C-2FC1BACA3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9555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2025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CLOUD</a:t>
            </a:r>
          </a:p>
          <a:p xmlns:a="http://schemas.openxmlformats.org/drawingml/2006/main">
            <a:pPr algn="l">
              <a:defRPr sz="2025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2025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SUBSCRIPTION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BEE88E-51B0-4883-B77D-D91BD018B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76625"/>
            <a:ext cx="2381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persistent control plane</a:t>
            </a:r>
          </a:p>
          <a:p xmlns:a="http://schemas.openxmlformats.org/drawingml/2006/main">
            <a:pPr algn="l">
              <a:defRPr sz="97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governance · monitoring</a:t>
            </a:r>
          </a:p>
          <a:p xmlns:a="http://schemas.openxmlformats.org/drawingml/2006/main">
            <a:pPr algn="l">
              <a:defRPr sz="97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shared operating history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6BD173-63C7-44E6-9A15-68996A174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457450"/>
            <a:ext cx="14287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35D7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BF5DF4-043A-4009-A046-96041CA1C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628900"/>
            <a:ext cx="1162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00" b="1">
                <a:solidFill>
                  <a:srgbClr val="35D7FF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35D7FF"/>
                </a:solidFill>
                <a:latin typeface="Avenir Next"/>
                <a:ea typeface="Avenir Next"/>
                <a:cs typeface="Avenir Next"/>
              </a:rPr>
              <a:t>MANAGED AGENTS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C9E6DE-2ED1-4DC5-94FE-530C9F17E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028950"/>
            <a:ext cx="11620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$0.020–$0.110 / running hour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572F07-8F96-4405-9F46-3D990DD31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2857500"/>
            <a:ext cx="142875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8B78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71781E-B568-4245-B36B-4D9CAAE3C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028950"/>
            <a:ext cx="1162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00" b="1">
                <a:solidFill>
                  <a:srgbClr val="8B78FF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8B78FF"/>
                </a:solidFill>
                <a:latin typeface="Avenir Next"/>
                <a:ea typeface="Avenir Next"/>
                <a:cs typeface="Avenir Next"/>
              </a:rPr>
              <a:t>HOSTED APPS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6947C9-6375-47ED-A34E-199A8F829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429000"/>
            <a:ext cx="11620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$5–$25 / 30 days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CF1738-E1F2-4489-94B7-96ECD20B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200400"/>
            <a:ext cx="1428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4CE5A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45BD9A-CBC3-405F-A1FA-DA2F89D4D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371850"/>
            <a:ext cx="1162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00" b="1">
                <a:solidFill>
                  <a:srgbClr val="4CE5A7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4CE5A7"/>
                </a:solidFill>
                <a:latin typeface="Avenir Next"/>
                <a:ea typeface="Avenir Next"/>
                <a:cs typeface="Avenir Next"/>
              </a:rPr>
              <a:t>MODELS + APIS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22990A-1AF6-441A-BFF3-884E0CFD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771900"/>
            <a:ext cx="11620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upstream cost + service markup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C24DE4-163F-470D-BF86-629BBAE59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562350"/>
            <a:ext cx="142875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FFB21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FEC2EC-B733-4A8E-9A4A-C138A9A15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3733800"/>
            <a:ext cx="1162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00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ENTERPRISE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43BF31-6241-47E4-B099-62AB6CBB5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133850"/>
            <a:ext cx="11620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deployment + identity + support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5EDCE3-B75D-4860-822B-45278019A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029200"/>
            <a:ext cx="6705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8B78FF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8B78FF"/>
                </a:solidFill>
                <a:latin typeface="Avenir Next"/>
                <a:ea typeface="Avenir Next"/>
                <a:cs typeface="Avenir Next"/>
              </a:rPr>
              <a:t>METERED EXPANSION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F5319F-87A4-4868-9E3E-13830004A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276850"/>
            <a:ext cx="6705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7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EF45D4-593F-4729-8431-163E24EFA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62600"/>
            <a:ext cx="10248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C325A8-5A4E-446D-8EE9-F776CC677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43575"/>
            <a:ext cx="9829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713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SUBSCRIPTION REVENUE  +  HOSTED PRODUCT REVENUE  +  MANAGED EXECUTION GROSS PROFIT  + 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161708723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8712C9DB-C608-44B8-8932-CE6CCD6FC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mbient-orb">
            <a:extLst xmlns:a="http://schemas.openxmlformats.org/drawingml/2006/main">
              <a:ext uri="{FF2B5EF4-FFF2-40B4-BE49-F238E27FC236}">
                <a16:creationId xmlns:a16="http://schemas.microsoft.com/office/drawing/2014/main" id="{ABDC5B6D-EFCC-4796-B88B-42D1F4833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0"/>
            <a:ext cx="1885950" cy="1885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Operating discipline-marker">
            <a:extLst xmlns:a="http://schemas.openxmlformats.org/drawingml/2006/main">
              <a:ext uri="{FF2B5EF4-FFF2-40B4-BE49-F238E27FC236}">
                <a16:creationId xmlns:a16="http://schemas.microsoft.com/office/drawing/2014/main" id="{CB44D8B5-D988-4D42-B9E6-7E7E91B0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Operating discipline-label">
            <a:extLst xmlns:a="http://schemas.openxmlformats.org/drawingml/2006/main">
              <a:ext uri="{FF2B5EF4-FFF2-40B4-BE49-F238E27FC236}">
                <a16:creationId xmlns:a16="http://schemas.microsoft.com/office/drawing/2014/main" id="{FC5002AE-F900-4C6F-B6C3-286C9F0B3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O P E R A T I N G   D I S C I P L I N E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AFAAC92-4329-4097-BD2C-5072829C3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The model is managed by cohorts, margin, and evidence gates.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1DCDF3-D775-4C66-ADCF-315C1C1BB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C6EA78D8-2959-4E40-9E70-4F61BC5BD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933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Illustrations are equations and gates—not revenue forecasts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6D7A19A3-FD0E-41FE-84DB-D90EC025C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F126C7-72B2-483D-A1D8-E556E96A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110871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D812F0-9FCD-458D-ACB9-9ECD7822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7645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35D7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35D7FF"/>
                </a:solidFill>
                <a:latin typeface="Avenir Next"/>
                <a:ea typeface="Avenir Next"/>
                <a:cs typeface="Avenir Next"/>
              </a:rPr>
              <a:t>ACTIVATED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60CB7D-60A0-41BC-BF96-2AE0B3CE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workspaces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591D8C-CAF7-4D30-9D40-A3DED152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047875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E0867D-8C02-438B-A460-E07F63734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41935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0E33D0-D6B4-430A-9829-D9410F16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07645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PAID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AAFDE6-2B66-4D8C-91F6-2B04FFFAF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41935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conversion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4CDE66-0A33-4EEB-90DE-A9569EEE6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047875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3CA913-8196-4542-8921-D96E62369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41935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D72520-D8BD-4C36-B69A-A9C9A662D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07645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4CE5A7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4CE5A7"/>
                </a:solidFill>
                <a:latin typeface="Avenir Next"/>
                <a:ea typeface="Avenir Next"/>
                <a:cs typeface="Avenir Next"/>
              </a:rPr>
              <a:t>RETAINED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CF9507-F790-49A7-ACB6-5C57B2383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41935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subscription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D66F9E-3D02-42B7-97C4-5260ABB1D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47875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90E0C8-0606-4123-8F9E-930418D8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41935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05F584-3811-4E18-A130-0EC2DE6A8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076450"/>
            <a:ext cx="1257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B78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8B78FF"/>
                </a:solidFill>
                <a:latin typeface="Avenir Next"/>
                <a:ea typeface="Avenir Next"/>
                <a:cs typeface="Avenir Next"/>
              </a:rPr>
              <a:t>USAGE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732B27-3068-45EF-9011-8042DAA04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419350"/>
            <a:ext cx="1257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expansion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54B8A2-2FA2-450D-8F31-7D2785B4F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19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E5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F197DB-5B85-442D-BAE8-8BDCC61EB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90900"/>
            <a:ext cx="2247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2025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30 / 90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D7E3E6-0AD5-44CC-A7B6-79EB27D79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81425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4CE5A7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4CE5A7"/>
                </a:solidFill>
                <a:latin typeface="Avenir Next"/>
                <a:ea typeface="Avenir Next"/>
                <a:cs typeface="Avenir Next"/>
              </a:rPr>
              <a:t>DAY PAID RETENTION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9E0FA7-B2D5-44BD-B77B-E5AFD049E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62400"/>
            <a:ext cx="2247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Do customers stay?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2D4600B-8CB0-451F-80A4-DB82864A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29000"/>
            <a:ext cx="19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ED76F4-37EC-4A28-BCEA-9C5256F3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390900"/>
            <a:ext cx="2247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2025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RRPW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07A137-02E8-4E07-ACD0-5599E02F2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781425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RECURRING REVENUE / WORKSPACE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EE29F6D-CB76-40FF-88BE-93CDFA6B9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962400"/>
            <a:ext cx="2247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Does the base deepen?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D12298F-527A-4DFB-8021-A7DE17C17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429000"/>
            <a:ext cx="19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7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3C83771-9657-448B-882F-2C15F35C1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90900"/>
            <a:ext cx="2247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2025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GP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33FFD1-6457-4032-B968-8589A4A4D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81425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8B78FF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8B78FF"/>
                </a:solidFill>
                <a:latin typeface="Avenir Next"/>
                <a:ea typeface="Avenir Next"/>
                <a:cs typeface="Avenir Next"/>
              </a:rPr>
              <a:t>MANAGED USAGE GROSS PROFIT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7899D3E-EBCF-4431-A670-585AE26FC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962400"/>
            <a:ext cx="2247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Does expansion create value?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37B5AA1-A655-4CF7-8B0C-1B5F46149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429000"/>
            <a:ext cx="19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E604226-27F4-4C95-88A5-B61904BF7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90900"/>
            <a:ext cx="2247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5F7FB"/>
                </a:solidFill>
                <a:latin typeface="Georgia"/>
                <a:ea typeface="Georgia"/>
                <a:cs typeface="Georgia"/>
              </a:defRPr>
            </a:pPr>
            <a:r>
              <a:rPr sz="2025" b="1">
                <a:solidFill>
                  <a:srgbClr val="F5F7FB"/>
                </a:solidFill>
                <a:latin typeface="Georgia"/>
                <a:ea typeface="Georgia"/>
                <a:cs typeface="Georgia"/>
              </a:rPr>
              <a:t>CM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5397257-8759-441F-A12C-8449D6096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781425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35D7FF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35D7FF"/>
                </a:solidFill>
                <a:latin typeface="Avenir Next"/>
                <a:ea typeface="Avenir Next"/>
                <a:cs typeface="Avenir Next"/>
              </a:rPr>
              <a:t>CONTRIBUTION MARGIN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9B82443-00F5-4847-9CFB-748C9AA6F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962400"/>
            <a:ext cx="2247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Can the model scale?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E638165-C1AB-444D-8024-99586BE61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EVIDENCE GATES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B529D3A-3299-4480-960B-B0F72B9D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0"/>
            <a:ext cx="2400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6A1B014-12D2-4FBB-8471-B65AE2328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76850"/>
            <a:ext cx="2400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SELF-SERVE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1C8A14F-FE4D-43CA-A148-4A614E973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43550"/>
            <a:ext cx="2400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repeated paid activation + retained usage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23B70C2-7524-4176-A34C-A6C75015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143500"/>
            <a:ext cx="2400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7552F0B-E6B4-49D3-86DA-5B7F93EAF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276850"/>
            <a:ext cx="2400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TEAM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1090326-3040-4638-8221-9B67DB2C8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543550"/>
            <a:ext cx="2400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multi-user approval and history demand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568B180-77CF-4776-ACCA-CAE29240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143500"/>
            <a:ext cx="2400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E8AB830-6429-441A-8A22-10E418CF8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276850"/>
            <a:ext cx="2400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ENTERPRISE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D5DC31F-4D25-4040-B291-EF3297317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543550"/>
            <a:ext cx="2400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repeatable use case + security readiness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047321B-919C-4AAF-A8E1-183008E51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143500"/>
            <a:ext cx="2400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2D97D13-BF41-4373-996E-843D497D3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276850"/>
            <a:ext cx="2400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MARKETPLACE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C5BC967-0045-4C3D-8624-9E18A7311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543550"/>
            <a:ext cx="2400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retained buyers seeking reusable supply</a:t>
            </a:r>
          </a:p>
        </p:txBody>
      </p:sp>
    </p:spTree>
    <p:extLst>
      <p:ext uri="{BB962C8B-B14F-4D97-AF65-F5344CB8AC3E}">
        <p14:creationId xmlns:p14="http://schemas.microsoft.com/office/powerpoint/2010/main" val="174979198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AE7898C6-AC2D-4237-9B02-C27B3288E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mbient-orb">
            <a:extLst xmlns:a="http://schemas.openxmlformats.org/drawingml/2006/main">
              <a:ext uri="{FF2B5EF4-FFF2-40B4-BE49-F238E27FC236}">
                <a16:creationId xmlns:a16="http://schemas.microsoft.com/office/drawing/2014/main" id="{57D528B3-4ECC-4FE6-AA88-D0C4B8F8F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0"/>
            <a:ext cx="1885950" cy="1885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Gated optionality-marker">
            <a:extLst xmlns:a="http://schemas.openxmlformats.org/drawingml/2006/main">
              <a:ext uri="{FF2B5EF4-FFF2-40B4-BE49-F238E27FC236}">
                <a16:creationId xmlns:a16="http://schemas.microsoft.com/office/drawing/2014/main" id="{99A11A78-C5F0-44ED-96BF-A30A70874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Gated optionality-label">
            <a:extLst xmlns:a="http://schemas.openxmlformats.org/drawingml/2006/main">
              <a:ext uri="{FF2B5EF4-FFF2-40B4-BE49-F238E27FC236}">
                <a16:creationId xmlns:a16="http://schemas.microsoft.com/office/drawing/2014/main" id="{82013305-03C1-4F03-80CE-94CF65DDB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G A T E D   O P T I O N A L I T Y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7C9C752-C1C8-4FA8-974E-4C6CD8922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Marketplaces and token utility are upside after retained demand—not prerequisites.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297B23-86AA-437C-B04A-1896541A6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5F457050-482B-4126-A1D4-0F858D68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933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Token and treasury boundary: docs/for-investors/honey-hive-treasury.md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6BBC0087-0E63-48F6-91E0-8428F2BCC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13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258528-5FD8-4B33-8FD9-2C4F5D8E5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19300"/>
            <a:ext cx="2343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NOW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1820DD-603F-4E5C-9C55-40C1F91A0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00300"/>
            <a:ext cx="2343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19050">
            <a:solidFill>
              <a:srgbClr val="FFB21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4F9FC0-51E5-45E9-995C-9D4A3947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71750"/>
            <a:ext cx="2038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Hivemind Cloud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BEC17B-4931-4372-858C-F37FB5819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7655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subscriptions + managed usage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6F4F88-2DB1-49A9-8BBC-1C1A78D4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790825"/>
            <a:ext cx="38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B8F773-FD9D-49CD-BB02-8EF278BE2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019300"/>
            <a:ext cx="2343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35D7FF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35D7FF"/>
                </a:solidFill>
                <a:latin typeface="Avenir Next"/>
                <a:ea typeface="Avenir Next"/>
                <a:cs typeface="Avenir Next"/>
              </a:rPr>
              <a:t>AFTER RETENTION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49AB2E-9BFE-40D4-B293-5AE500545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400300"/>
            <a:ext cx="2343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35D7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23053B-BFD3-4B47-B2A6-AA613E6A2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71750"/>
            <a:ext cx="2038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Enterprise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5E65B6-0606-40B7-A773-F37F644A2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87655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identity + private deployment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AB3A85-2E03-4CA0-A81C-F31D91DF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790825"/>
            <a:ext cx="38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EB2EEF-FFCC-4927-A3DE-6BB11124F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19300"/>
            <a:ext cx="2343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8B78FF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8B78FF"/>
                </a:solidFill>
                <a:latin typeface="Avenir Next"/>
                <a:ea typeface="Avenir Next"/>
                <a:cs typeface="Avenir Next"/>
              </a:rPr>
              <a:t>AFTER BUYER DEMAND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127357-8308-4DCA-B23F-832809CAD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400300"/>
            <a:ext cx="2343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8B78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F7070F-5291-4AD4-82BB-4B58AB6E3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71750"/>
            <a:ext cx="2038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Marketplaces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C0B8DD-C793-48A1-986F-95A93E69A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87655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5–20% only when value is supplied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83DA57-35EB-4327-BC65-BF0F5606F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790825"/>
            <a:ext cx="38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7B7BA7-6593-4F14-AF78-D0D1B0447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019300"/>
            <a:ext cx="2343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4CE5A7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4CE5A7"/>
                </a:solidFill>
                <a:latin typeface="Avenir Next"/>
                <a:ea typeface="Avenir Next"/>
                <a:cs typeface="Avenir Next"/>
              </a:rPr>
              <a:t>AFTER REVIEW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5FD4AD-C9D7-4454-B3F8-BA9AFE291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400300"/>
            <a:ext cx="2343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4CE5A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8C4AF7-A2EF-43C2-867F-6163C26A4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71750"/>
            <a:ext cx="2038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Token utility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A68459-8306-4EB5-8C74-B9DE1013E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87655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optional payment/community paths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455D2D-390B-4B82-827C-7B8F40D7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67150"/>
            <a:ext cx="110871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642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6ED14C-A376-450F-9ABA-7367E1CE0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5290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CLEAR BOUNDARIES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FEF561-1FFC-49CE-A4C1-CBBDE02C5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10100"/>
            <a:ext cx="232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2025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0%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DFCE00-AA65-4C5D-B8C0-24D124A33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577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788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ordinary wallet sends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07B1645-4E06-4483-A051-629A78C2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610100"/>
            <a:ext cx="232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B21A"/>
                </a:solidFill>
                <a:latin typeface="Georgia"/>
                <a:ea typeface="Georgia"/>
                <a:cs typeface="Georgia"/>
              </a:defRPr>
            </a:pPr>
            <a:r>
              <a:rPr sz="2025" b="1">
                <a:solidFill>
                  <a:srgbClr val="FFB21A"/>
                </a:solidFill>
                <a:latin typeface="Georgia"/>
                <a:ea typeface="Georgia"/>
                <a:cs typeface="Georgia"/>
              </a:rPr>
              <a:t>Honey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8D05C03-0EA3-4F63-AAD5-06423A1D0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0577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788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non-cash contribution record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D254B0-52A6-45E8-958C-031FE7D14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610100"/>
            <a:ext cx="232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8B78FF"/>
                </a:solidFill>
                <a:latin typeface="Georgia"/>
                <a:ea typeface="Georgia"/>
                <a:cs typeface="Georgia"/>
              </a:defRPr>
            </a:pPr>
            <a:r>
              <a:rPr sz="2025" b="1">
                <a:solidFill>
                  <a:srgbClr val="8B78FF"/>
                </a:solidFill>
                <a:latin typeface="Georgia"/>
                <a:ea typeface="Georgia"/>
                <a:cs typeface="Georgia"/>
              </a:rPr>
              <a:t>HIVE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E2D7E18-C3E1-4D06-979C-0400CFCA9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0577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788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optional external token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11E9480-62C2-456F-823F-DF24646A6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610100"/>
            <a:ext cx="232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6B7A"/>
                </a:solidFill>
                <a:latin typeface="Georgia"/>
                <a:ea typeface="Georgia"/>
                <a:cs typeface="Georgia"/>
              </a:defRPr>
            </a:pPr>
            <a:r>
              <a:rPr sz="2025" b="1">
                <a:solidFill>
                  <a:srgbClr val="FF6B7A"/>
                </a:solidFill>
                <a:latin typeface="Georgia"/>
                <a:ea typeface="Georgia"/>
                <a:cs typeface="Georgia"/>
              </a:rPr>
              <a:t>NONE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9E377E2-6143-4F1A-892E-3B04F3056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50577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788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automatic conversion, buyback, or staking-return promise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97C9108-89FE-4670-B089-4207B42C6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53125"/>
            <a:ext cx="11087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938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The token can support the ecosystem later. It does not carry the operating model today.</a:t>
            </a:r>
          </a:p>
        </p:txBody>
      </p:sp>
    </p:spTree>
    <p:extLst>
      <p:ext uri="{BB962C8B-B14F-4D97-AF65-F5344CB8AC3E}">
        <p14:creationId xmlns:p14="http://schemas.microsoft.com/office/powerpoint/2010/main" val="1137071767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C5A1E84A-0DDE-41A8-9F64-7F48F347F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ambient-orb">
            <a:extLst xmlns:a="http://schemas.openxmlformats.org/drawingml/2006/main">
              <a:ext uri="{FF2B5EF4-FFF2-40B4-BE49-F238E27FC236}">
                <a16:creationId xmlns:a16="http://schemas.microsoft.com/office/drawing/2014/main" id="{614CD270-C543-4C04-8781-70C18FDFB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0"/>
            <a:ext cx="1885950" cy="1885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83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The ask-marker">
            <a:extLst xmlns:a="http://schemas.openxmlformats.org/drawingml/2006/main">
              <a:ext uri="{FF2B5EF4-FFF2-40B4-BE49-F238E27FC236}">
                <a16:creationId xmlns:a16="http://schemas.microsoft.com/office/drawing/2014/main" id="{08304FA6-AB65-4F6A-8600-2EF79AB65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kicker-The ask-label">
            <a:extLst xmlns:a="http://schemas.openxmlformats.org/drawingml/2006/main">
              <a:ext uri="{FF2B5EF4-FFF2-40B4-BE49-F238E27FC236}">
                <a16:creationId xmlns:a16="http://schemas.microsoft.com/office/drawing/2014/main" id="{A8F928F8-1787-4DE5-8DD3-4C9DAF58B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T H E   A S K</a:t>
            </a:r>
          </a:p>
        </p:txBody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15D7551-5C12-4D59-953E-8AEFD0D49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Seed capital funds three proofs—not eight simultaneous bets.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C70614-43D5-4ACD-B374-7B472D261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5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F1144EE1-A6E6-4D09-8946-D4A58C41E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933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54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HIVEMINDOS  ·  github.com/LiamVisionary/hivemindos  ·  vibe@withami.ai</a:t>
            </a:r>
          </a:p>
        </p:txBody>
      </p:sp>
      <p:sp>
        <p:nvSpPr>
          <p:cNvPr id="8" name="footer-page">
            <a:extLst xmlns:a="http://schemas.openxmlformats.org/drawingml/2006/main">
              <a:ext uri="{FF2B5EF4-FFF2-40B4-BE49-F238E27FC236}">
                <a16:creationId xmlns:a16="http://schemas.microsoft.com/office/drawing/2014/main" id="{C20B24B8-2F14-4F60-88CE-B699C5D01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34150"/>
            <a:ext cx="495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14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BA2D69-2C45-4F47-827E-234BE68AB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8477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The product is already open, local-first, and operating. The next financing should prove that managed continuity converts, retains, and expands.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8EC193-05AD-481D-BFBA-3FFC52153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0985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B21A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FFB21A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F6C1FD-B4A2-4E85-B848-B3E0F1C4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86100"/>
            <a:ext cx="3162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21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A13BBE-2E78-463C-8F66-6A9A33C49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71850"/>
            <a:ext cx="3162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FFB21A"/>
                </a:solidFill>
                <a:latin typeface="Avenir Next"/>
                <a:ea typeface="Avenir Next"/>
                <a:cs typeface="Avenir Next"/>
              </a:rPr>
              <a:t>PAID ACTIVATION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06309A-0B4B-4D0E-90C7-F692F1AE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90950"/>
            <a:ext cx="3048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Sell the six-week Managed Agent Operations Pilot and identify the repeatable first paid moment.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2F94D9-E3DF-4149-882E-E0F3098AD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60985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4CE5A7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4CE5A7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A92306-2355-47AD-84F1-9CB7512DB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086100"/>
            <a:ext cx="3162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E5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15BF91-C3B3-4972-9A24-5191F0B79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371850"/>
            <a:ext cx="3162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4CE5A7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4CE5A7"/>
                </a:solidFill>
                <a:latin typeface="Avenir Next"/>
                <a:ea typeface="Avenir Next"/>
                <a:cs typeface="Avenir Next"/>
              </a:rPr>
              <a:t>RETENTION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03FD9B-283A-4D2D-8A99-9CF82F6CE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790950"/>
            <a:ext cx="3048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Turn successful pilots into Cloud Pro, Team, and enterprise relationships with 30/90-day evidence.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6676FF-56CF-4100-B77A-C69CECC9B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0985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8B78FF"/>
                </a:solidFill>
                <a:latin typeface="Georgia"/>
                <a:ea typeface="Georgia"/>
                <a:cs typeface="Georgia"/>
              </a:defRPr>
            </a:pPr>
            <a:r>
              <a:rPr sz="1875" b="1">
                <a:solidFill>
                  <a:srgbClr val="8B78FF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9267D3-AD91-4961-A296-3F0C2C2FB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6100"/>
            <a:ext cx="3162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78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011C53-7BD9-42B1-AC52-90C85B851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371850"/>
            <a:ext cx="3162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B78FF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8B78FF"/>
                </a:solidFill>
                <a:latin typeface="Avenir Next"/>
                <a:ea typeface="Avenir Next"/>
                <a:cs typeface="Avenir Next"/>
              </a:rPr>
              <a:t>EXPANSION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2B5060-C5C6-41BB-BB7E-388C44C69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790950"/>
            <a:ext cx="3048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5F7FB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F5F7FB"/>
                </a:solidFill>
                <a:latin typeface="Avenir Next"/>
                <a:ea typeface="Avenir Next"/>
                <a:cs typeface="Avenir Next"/>
              </a:rPr>
              <a:t>Prove that managed agents, hosting, models, and APIs deepen contribution margin per retained workspace.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03788B-A0EB-45F9-8B89-CD8A45DD9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19700"/>
            <a:ext cx="110871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5"/>
          </a:solidFill>
          <a:ln xmlns:a="http://schemas.openxmlformats.org/drawingml/2006/main" w="9525">
            <a:solidFill>
              <a:srgbClr val="2435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8B2278-D5DE-4250-B959-4B6E8699A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48300"/>
            <a:ext cx="400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5D7FF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35D7FF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071172-1217-4664-BCDA-5FEA2EC50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476875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PRODUCT + RELIABILITY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AB5935-A049-4A50-83D7-A0DD7087C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5448300"/>
            <a:ext cx="400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B21A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FFB21A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246E07-45F4-49F3-A22E-4ED700835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476875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CLOUD + SECURITY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23F213-7A85-4F50-B886-39A2A5BAE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448300"/>
            <a:ext cx="400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4CE5A7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4CE5A7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EABEFB-F3E4-476D-8E38-AF56E77A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476875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9AA9BE"/>
                </a:solidFill>
                <a:latin typeface="Avenir Next"/>
                <a:ea typeface="Avenir Next"/>
                <a:cs typeface="Avenir Next"/>
              </a:defRPr>
            </a:pPr>
            <a:r>
              <a:rPr sz="675" b="1">
                <a:solidFill>
                  <a:srgbClr val="9AA9BE"/>
                </a:solidFill>
                <a:latin typeface="Avenir Next"/>
                <a:ea typeface="Avenir Next"/>
                <a:cs typeface="Avenir Next"/>
              </a:rPr>
              <a:t>DESIGN PARTNERS + GTM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58B38E-82F7-47C2-B15F-9DFAB5237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15050"/>
            <a:ext cx="11087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B21A"/>
                </a:solidFill>
                <a:latin typeface="Georgia"/>
                <a:ea typeface="Georgia"/>
                <a:cs typeface="Georgia"/>
              </a:defRPr>
            </a:pPr>
            <a:r>
              <a:rPr sz="975" b="1">
                <a:solidFill>
                  <a:srgbClr val="FFB21A"/>
                </a:solidFill>
                <a:latin typeface="Georgia"/>
                <a:ea typeface="Georgia"/>
                <a:cs typeface="Georgia"/>
              </a:rPr>
              <a:t>HivemindOS is building the operating layer where agent fleets become accountable businesses.</a:t>
            </a:r>
          </a:p>
        </p:txBody>
      </p:sp>
    </p:spTree>
    <p:extLst>
      <p:ext uri="{BB962C8B-B14F-4D97-AF65-F5344CB8AC3E}">
        <p14:creationId xmlns:p14="http://schemas.microsoft.com/office/powerpoint/2010/main" val="84722462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2026-07-12T08:30:08.8560000Z</dcterms:created>
  <dcterms:modified xsi:type="dcterms:W3CDTF">2026-07-12T08:30:08.8560000Z</dcterms:modified>
</coreProperties>
</file>