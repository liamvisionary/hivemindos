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6159ddead84b1f" /><Relationship Type="http://schemas.openxmlformats.org/officeDocument/2006/relationships/extended-properties" Target="/docProps/app.xml" Id="Raf20611678304fa9" /><Relationship Type="http://schemas.openxmlformats.org/officeDocument/2006/relationships/officeDocument" Target="/ppt/presentation.xml" Id="R7d0dd4b077bc40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0173181d894504"/>
  </p:sldMasterIdLst>
  <p:notesMasterIdLst>
    <p:notesMasterId xmlns:r="http://schemas.openxmlformats.org/officeDocument/2006/relationships" r:id="R0148caf9ae3144ca"/>
  </p:notesMasterIdLst>
  <p:sldIdLst>
    <p:sldId xmlns:r="http://schemas.openxmlformats.org/officeDocument/2006/relationships" id="256" r:id="R19d8ae94fc274b02"/>
    <p:sldId xmlns:r="http://schemas.openxmlformats.org/officeDocument/2006/relationships" id="257" r:id="R890b21b0f0bf4272"/>
    <p:sldId xmlns:r="http://schemas.openxmlformats.org/officeDocument/2006/relationships" id="258" r:id="R792af0eba620459e"/>
    <p:sldId xmlns:r="http://schemas.openxmlformats.org/officeDocument/2006/relationships" id="259" r:id="R8954c39a571640a4"/>
    <p:sldId xmlns:r="http://schemas.openxmlformats.org/officeDocument/2006/relationships" id="260" r:id="Rd1ec896b164440ef"/>
    <p:sldId xmlns:r="http://schemas.openxmlformats.org/officeDocument/2006/relationships" id="261" r:id="R466602086af140b4"/>
    <p:sldId xmlns:r="http://schemas.openxmlformats.org/officeDocument/2006/relationships" id="262" r:id="R8b7eb298f52d498e"/>
    <p:sldId xmlns:r="http://schemas.openxmlformats.org/officeDocument/2006/relationships" id="263" r:id="R310ead59523a4217"/>
    <p:sldId xmlns:r="http://schemas.openxmlformats.org/officeDocument/2006/relationships" id="264" r:id="Rc7773730601d4427"/>
    <p:sldId xmlns:r="http://schemas.openxmlformats.org/officeDocument/2006/relationships" id="265" r:id="Rada9b1355c1f4016"/>
    <p:sldId xmlns:r="http://schemas.openxmlformats.org/officeDocument/2006/relationships" id="266" r:id="R645d334ebe7b4948"/>
    <p:sldId xmlns:r="http://schemas.openxmlformats.org/officeDocument/2006/relationships" id="267" r:id="Reb4a9a35c5cb449f"/>
    <p:sldId xmlns:r="http://schemas.openxmlformats.org/officeDocument/2006/relationships" id="268" r:id="R4e73a0d365b6456f"/>
    <p:sldId xmlns:r="http://schemas.openxmlformats.org/officeDocument/2006/relationships" id="269" r:id="R8af8cc92315d4e16"/>
    <p:sldId xmlns:r="http://schemas.openxmlformats.org/officeDocument/2006/relationships" id="270" r:id="R6101d5535a5f44f9"/>
    <p:sldId xmlns:r="http://schemas.openxmlformats.org/officeDocument/2006/relationships" id="271" r:id="R778c9eec770d4e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931798bb124188" /><Relationship Type="http://schemas.openxmlformats.org/officeDocument/2006/relationships/slideMaster" Target="/ppt/slideMasters/slideMaster1.xml" Id="R130173181d894504" /><Relationship Type="http://schemas.openxmlformats.org/officeDocument/2006/relationships/notesMaster" Target="/ppt/notesMasters/notesMaster1.xml" Id="R0148caf9ae3144ca" /><Relationship Type="http://schemas.openxmlformats.org/officeDocument/2006/relationships/presProps" Target="/ppt/presProps.xml" Id="R2408b6f16c3b4d0e" /><Relationship Type="http://schemas.openxmlformats.org/officeDocument/2006/relationships/tableStyles" Target="/ppt/tableStyles.xml" Id="Rd56c90091830471b" /><Relationship Type="http://schemas.openxmlformats.org/officeDocument/2006/relationships/slide" Target="/ppt/slides/slide1.xml" Id="R19d8ae94fc274b02" /><Relationship Type="http://schemas.openxmlformats.org/officeDocument/2006/relationships/slide" Target="/ppt/slides/slide2.xml" Id="R890b21b0f0bf4272" /><Relationship Type="http://schemas.openxmlformats.org/officeDocument/2006/relationships/slide" Target="/ppt/slides/slide3.xml" Id="R792af0eba620459e" /><Relationship Type="http://schemas.openxmlformats.org/officeDocument/2006/relationships/slide" Target="/ppt/slides/slide4.xml" Id="R8954c39a571640a4" /><Relationship Type="http://schemas.openxmlformats.org/officeDocument/2006/relationships/slide" Target="/ppt/slides/slide5.xml" Id="Rd1ec896b164440ef" /><Relationship Type="http://schemas.openxmlformats.org/officeDocument/2006/relationships/slide" Target="/ppt/slides/slide6.xml" Id="R466602086af140b4" /><Relationship Type="http://schemas.openxmlformats.org/officeDocument/2006/relationships/slide" Target="/ppt/slides/slide7.xml" Id="R8b7eb298f52d498e" /><Relationship Type="http://schemas.openxmlformats.org/officeDocument/2006/relationships/slide" Target="/ppt/slides/slide8.xml" Id="R310ead59523a4217" /><Relationship Type="http://schemas.openxmlformats.org/officeDocument/2006/relationships/slide" Target="/ppt/slides/slide9.xml" Id="Rc7773730601d4427" /><Relationship Type="http://schemas.openxmlformats.org/officeDocument/2006/relationships/slide" Target="/ppt/slides/slide10.xml" Id="Rada9b1355c1f4016" /><Relationship Type="http://schemas.openxmlformats.org/officeDocument/2006/relationships/slide" Target="/ppt/slides/slide11.xml" Id="R645d334ebe7b4948" /><Relationship Type="http://schemas.openxmlformats.org/officeDocument/2006/relationships/slide" Target="/ppt/slides/slide12.xml" Id="Reb4a9a35c5cb449f" /><Relationship Type="http://schemas.openxmlformats.org/officeDocument/2006/relationships/slide" Target="/ppt/slides/slide13.xml" Id="R4e73a0d365b6456f" /><Relationship Type="http://schemas.openxmlformats.org/officeDocument/2006/relationships/slide" Target="/ppt/slides/slide14.xml" Id="R8af8cc92315d4e16" /><Relationship Type="http://schemas.openxmlformats.org/officeDocument/2006/relationships/slide" Target="/ppt/slides/slide15.xml" Id="R6101d5535a5f44f9" /><Relationship Type="http://schemas.openxmlformats.org/officeDocument/2006/relationships/slide" Target="/ppt/slides/slide16.xml" Id="R778c9eec770d4e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b8b7f503a84c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0f7eb38d6d48d6" /><Relationship Type="http://schemas.openxmlformats.org/officeDocument/2006/relationships/notesMaster" Target="/ppt/notesMasters/notesMaster1.xml" Id="R6f0daedca10847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b14807884644d6" /><Relationship Type="http://schemas.openxmlformats.org/officeDocument/2006/relationships/notesMaster" Target="/ppt/notesMasters/notesMaster1.xml" Id="R11f2a7b65ee64e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88c9ebbca14e49" /><Relationship Type="http://schemas.openxmlformats.org/officeDocument/2006/relationships/notesMaster" Target="/ppt/notesMasters/notesMaster1.xml" Id="R6df45b82c8ad44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7026b6521f401e" /><Relationship Type="http://schemas.openxmlformats.org/officeDocument/2006/relationships/notesMaster" Target="/ppt/notesMasters/notesMaster1.xml" Id="R5175d464ebdf41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7d5a2c556f42ce" /><Relationship Type="http://schemas.openxmlformats.org/officeDocument/2006/relationships/notesMaster" Target="/ppt/notesMasters/notesMaster1.xml" Id="R5e952139e4ad45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fbf2548463476a" /><Relationship Type="http://schemas.openxmlformats.org/officeDocument/2006/relationships/notesMaster" Target="/ppt/notesMasters/notesMaster1.xml" Id="Rec96bad314a941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a37f08ef624240" /><Relationship Type="http://schemas.openxmlformats.org/officeDocument/2006/relationships/notesMaster" Target="/ppt/notesMasters/notesMaster1.xml" Id="Rdbf84f2562a74f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841805958044b7" /><Relationship Type="http://schemas.openxmlformats.org/officeDocument/2006/relationships/notesMaster" Target="/ppt/notesMasters/notesMaster1.xml" Id="Rd1ebd7cf6fd946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2d37f92f604b54" /><Relationship Type="http://schemas.openxmlformats.org/officeDocument/2006/relationships/notesMaster" Target="/ppt/notesMasters/notesMaster1.xml" Id="R5a1eebeeae2f44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518288875b41f9" /><Relationship Type="http://schemas.openxmlformats.org/officeDocument/2006/relationships/notesMaster" Target="/ppt/notesMasters/notesMaster1.xml" Id="R56e87e49923242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114121854742e1" /><Relationship Type="http://schemas.openxmlformats.org/officeDocument/2006/relationships/notesMaster" Target="/ppt/notesMasters/notesMaster1.xml" Id="R09bf07f9636f4a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b28aa259a1461a" /><Relationship Type="http://schemas.openxmlformats.org/officeDocument/2006/relationships/notesMaster" Target="/ppt/notesMasters/notesMaster1.xml" Id="R755e18c51e7d429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0872f8fcaa4a60" /><Relationship Type="http://schemas.openxmlformats.org/officeDocument/2006/relationships/notesMaster" Target="/ppt/notesMasters/notesMaster1.xml" Id="Rb657048783ee40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19de571a9545c4" /><Relationship Type="http://schemas.openxmlformats.org/officeDocument/2006/relationships/notesMaster" Target="/ppt/notesMasters/notesMaster1.xml" Id="Ra863ac38e44548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48a7967f824bfe" /><Relationship Type="http://schemas.openxmlformats.org/officeDocument/2006/relationships/notesMaster" Target="/ppt/notesMasters/notesMaster1.xml" Id="Ra11c41d689fe4bb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e7e189b5b6448bf" /><Relationship Type="http://schemas.openxmlformats.org/officeDocument/2006/relationships/notesMaster" Target="/ppt/notesMasters/notesMaster1.xml" Id="R6e791f51b3e94f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9e7eee848547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a34bed1a694ee6" /><Relationship Type="http://schemas.openxmlformats.org/officeDocument/2006/relationships/slideLayout" Target="/ppt/slideLayouts/slideLayout1.xml" Id="R82826c7f75e341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826c7f75e341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6c0c745d241e9" /><Relationship Type="http://schemas.openxmlformats.org/officeDocument/2006/relationships/image" Target="/ppt/media/image.png" Id="R684f67f18aee4208" /><Relationship Type="http://schemas.openxmlformats.org/officeDocument/2006/relationships/notesSlide" Target="/ppt/notesSlides/notesSlide1.xml" Id="Ree2876c8f6a548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78fc212774b44" /><Relationship Type="http://schemas.openxmlformats.org/officeDocument/2006/relationships/notesSlide" Target="/ppt/notesSlides/notesSlide2.xml" Id="R240580aa75b04f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d407567fe41ad" /><Relationship Type="http://schemas.openxmlformats.org/officeDocument/2006/relationships/notesSlide" Target="/ppt/notesSlides/notesSlide3.xml" Id="Rfeaed62935b649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87737dbdb4c01" /><Relationship Type="http://schemas.openxmlformats.org/officeDocument/2006/relationships/notesSlide" Target="/ppt/notesSlides/notesSlide4.xml" Id="R91ce0d3eeb8e4f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60a8d1d0347b8" /><Relationship Type="http://schemas.openxmlformats.org/officeDocument/2006/relationships/notesSlide" Target="/ppt/notesSlides/notesSlide5.xml" Id="R132135be1ec14d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eebd64b934ecc" /><Relationship Type="http://schemas.openxmlformats.org/officeDocument/2006/relationships/notesSlide" Target="/ppt/notesSlides/notesSlide6.xml" Id="R111082a4d4e647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983424cfc4c9f" /><Relationship Type="http://schemas.openxmlformats.org/officeDocument/2006/relationships/notesSlide" Target="/ppt/notesSlides/notesSlide7.xml" Id="R7dbb6fdc5f1e42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c4806398e4be8" /><Relationship Type="http://schemas.openxmlformats.org/officeDocument/2006/relationships/notesSlide" Target="/ppt/notesSlides/notesSlide8.xml" Id="R2b1c089810f043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69da86522d4b17" /><Relationship Type="http://schemas.openxmlformats.org/officeDocument/2006/relationships/notesSlide" Target="/ppt/notesSlides/notesSlide9.xml" Id="Raf9fb4967b934a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b1bac83de4239" /><Relationship Type="http://schemas.openxmlformats.org/officeDocument/2006/relationships/notesSlide" Target="/ppt/notesSlides/notesSlide10.xml" Id="Rb8e2fefa340e49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7606fcfa64913" /><Relationship Type="http://schemas.openxmlformats.org/officeDocument/2006/relationships/notesSlide" Target="/ppt/notesSlides/notesSlide11.xml" Id="R9d9dc1f7b66844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238e180f44485" /><Relationship Type="http://schemas.openxmlformats.org/officeDocument/2006/relationships/notesSlide" Target="/ppt/notesSlides/notesSlide12.xml" Id="Rd500f62e61b241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6b090efc44732" /><Relationship Type="http://schemas.openxmlformats.org/officeDocument/2006/relationships/notesSlide" Target="/ppt/notesSlides/notesSlide13.xml" Id="Rd4775a11f63144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28b9f2ebb41e5" /><Relationship Type="http://schemas.openxmlformats.org/officeDocument/2006/relationships/notesSlide" Target="/ppt/notesSlides/notesSlide14.xml" Id="R48f172bb474540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cf8c17138455b" /><Relationship Type="http://schemas.openxmlformats.org/officeDocument/2006/relationships/notesSlide" Target="/ppt/notesSlides/notesSlide15.xml" Id="Rddc1ba7aab71411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58fcddf3c42f9" /><Relationship Type="http://schemas.openxmlformats.org/officeDocument/2006/relationships/notesSlide" Target="/ppt/notesSlides/notesSlide16.xml" Id="Rec739f1bf14a4b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A0B0AEDD-A7DB-4575-BF6D-96920F31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035CA52A-5C09-475B-BF44-0866DBE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f67f18aee4208"/>
          <a:stretch xmlns:a="http://schemas.openxmlformats.org/drawingml/2006/main"/>
        </p:blipFill>
        <p:spPr>
          <a:xfrm xmlns:a="http://schemas.openxmlformats.org/drawingml/2006/main">
            <a:off x="514350" y="325949"/>
            <a:ext cx="762000" cy="77685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61011-9368-411E-AD30-38BBD7EA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72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37BB7-8C71-4A8B-A6F7-0D559405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14375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OPEN-SOURCE AGENT ECONOMY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CBFA0-596E-4BB2-B20A-B90B424A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695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35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The open-source control plane</a:t>
            </a:r>
          </a:p>
          <a:p xmlns:a="http://schemas.openxmlformats.org/drawingml/2006/main">
            <a:pPr algn="l">
              <a:defRPr sz="35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35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for the agent economy.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EE81F-C794-4D68-B032-70E455F2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23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D828C-495D-4F63-AE28-51CC3D50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685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Local use stays free. HivemindOS earns when governed agents run through managed infrastructure—and again when they trade, pay, and purchase services through supported rails.</a:t>
            </a:r>
          </a:p>
        </p:txBody>
      </p:sp>
      <p:sp>
        <p:nvSpPr>
          <p:cNvPr id="9" name="cover-revenue-rail">
            <a:extLst xmlns:a="http://schemas.openxmlformats.org/drawingml/2006/main">
              <a:ext uri="{FF2B5EF4-FFF2-40B4-BE49-F238E27FC236}">
                <a16:creationId xmlns:a16="http://schemas.microsoft.com/office/drawing/2014/main" id="{9A0EBA88-2BE0-487B-A77E-6E1AE06E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285875"/>
            <a:ext cx="3124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472A1-4B2C-4662-8A32-D53C8570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ONE 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3E1019-237E-47E5-BE68-CAA58EE1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2552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Two compounding</a:t>
            </a:r>
          </a:p>
          <a:p xmlns:a="http://schemas.openxmlformats.org/drawingml/2006/main">
            <a:pPr algn="l">
              <a:defRPr sz="18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revenue layers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CDC0AC-AB15-4139-8E3E-DFBACA44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241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9D0AD-4686-40DF-B0BA-D4E004E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146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OPERATE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82DFC-1C47-45BD-A0F5-C7FCD752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7655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subscriptions</a:t>
            </a:r>
          </a:p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+ managed usage</a:t>
            </a:r>
          </a:p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+ enterprise controls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DC29E-54E9-4607-9F12-3072ABC4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623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TRANSACT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62531-662B-4508-86A6-943A87A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1475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Trading + payment fees</a:t>
            </a:r>
          </a:p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+ builder economics</a:t>
            </a:r>
          </a:p>
          <a:p xmlns:a="http://schemas.openxmlformats.org/drawingml/2006/main">
            <a:pPr algn="l">
              <a:def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+ later marketplaces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DC688-BCE6-453C-A2B9-9772DAAC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D5273-7FDB-45C6-A889-853CCCCD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FREE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498F0-4597-407A-934A-FCDE97D4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OPEN 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8394A4-3F21-481F-811F-440B779B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18160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8808AE-E292-4CBF-9ABF-D7CBCBBD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625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$39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5BFC82-4562-4A15-B754-499ADDDE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4673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CLOUD PRO / MONTH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6FCB91-7262-4C4E-B9DF-6AE737FC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18160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53FE1C-0652-46C7-85EC-5B0C60BD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1625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0.20%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DA04E-E0C7-4331-92FF-569164CE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4673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CURRENT DEX FEE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D93E1A-1C27-4434-8E7A-FA46521C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8160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78AAF9-2E4B-4DB7-B7C1-0CAE6AB6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6255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0.005%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1CFED5-639C-4748-B485-27CBE2D0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46735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HYPERLIQUID BUILDER 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723176-BFF0-4992-BDB4-A5BBF6A8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736915-66CF-4175-AE60-6AA7AA54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 investor deck · commercial policies as of 12 Jul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3EFEA9-E62A-4D31-A73F-C08CD191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82937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0C6BD99-9605-472B-A408-ADAB1974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ACD019E3-751C-4A35-BF7F-5BC8D8BD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he problem-marker">
            <a:extLst xmlns:a="http://schemas.openxmlformats.org/drawingml/2006/main">
              <a:ext uri="{FF2B5EF4-FFF2-40B4-BE49-F238E27FC236}">
                <a16:creationId xmlns:a16="http://schemas.microsoft.com/office/drawing/2014/main" id="{53516A0B-0D66-49E8-ADE0-236F43FB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he problem-label">
            <a:extLst xmlns:a="http://schemas.openxmlformats.org/drawingml/2006/main">
              <a:ext uri="{FF2B5EF4-FFF2-40B4-BE49-F238E27FC236}">
                <a16:creationId xmlns:a16="http://schemas.microsoft.com/office/drawing/2014/main" id="{36482311-44F4-4AB4-87E6-704583E1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H E   P R O B L E M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6BE69B-1D0E-4640-828D-829C0CE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Agents can do work. No one operates the fleet.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232F5-7075-46F1-BB20-6A6FDBE6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BABC2942-940B-454F-8B43-086FDE59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63A04AA-9AD7-443B-9F7A-2ED98A7C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BE399-D01E-4F78-B4C0-14842EE0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476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Models are improving faster than the operating systems around them. The failure is no longer raw capability—it is continuity, coordination, control, and proof.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BF3AB8-6247-4F95-AED3-408C094F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438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A chat window is not an operating layer.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A5312-9527-4DA8-A210-C0F16E71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Without one, every new runtime adds another silo, another spend surface, and another place where context disappears.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6E359-97BA-4B4B-BC1D-EE0B148F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9A79A-28BD-4765-AC3C-255172B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002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5BA50-6F92-45BA-8082-0FC43954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Memory resets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196B4-0A32-400A-BB54-9B370D0F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621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Decisions and hard-won context do not travel.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1B6C1-0FBD-485A-9470-5D2A27C1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BA7FD1-1484-4A51-B08B-B753F3DA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B8C28-3E31-4FBE-9F71-2CF05A02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432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Work fragments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EA6EC9-1A4E-4083-88DB-767CDB5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765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Agents and machines cannot coordinate as one crew.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DE0B38-9F59-4ECD-AB54-C98BC3EF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957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C8BDD6-9822-4A10-8EB5-EE8B57DB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297894-4EE9-481E-A98F-C77FF62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576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Spend escapes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4604A0-2B5C-45D9-B980-6D6EADB4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909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Budgets and approvals live outside the work loop.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62F8DA-08F9-4CB8-85FF-AB3DDE26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101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94B916-F46A-40FE-9E37-2B14C2AE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B3D3AD-38FD-460D-9D3C-ADCC6874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Proof disappears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3394D5-F172-4361-AFA3-70E96EE5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 completion message does not prove the outcome.</a:t>
            </a:r>
          </a:p>
        </p:txBody>
      </p:sp>
    </p:spTree>
    <p:extLst>
      <p:ext uri="{BB962C8B-B14F-4D97-AF65-F5344CB8AC3E}">
        <p14:creationId xmlns:p14="http://schemas.microsoft.com/office/powerpoint/2010/main" val="16026245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2BFC06E-9A34-4262-96BD-4187CC7B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9AC50113-6567-4B0C-9869-AA854C5F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he solution-marker">
            <a:extLst xmlns:a="http://schemas.openxmlformats.org/drawingml/2006/main">
              <a:ext uri="{FF2B5EF4-FFF2-40B4-BE49-F238E27FC236}">
                <a16:creationId xmlns:a16="http://schemas.microsoft.com/office/drawing/2014/main" id="{5A712F09-480E-4986-944D-06A7FE80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he solution-label">
            <a:extLst xmlns:a="http://schemas.openxmlformats.org/drawingml/2006/main">
              <a:ext uri="{FF2B5EF4-FFF2-40B4-BE49-F238E27FC236}">
                <a16:creationId xmlns:a16="http://schemas.microsoft.com/office/drawing/2014/main" id="{331597BB-9E6D-41D4-BC9F-89E7D63E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H E   S O L U T I O N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9BEA9C-6945-4031-AF4A-CA417B5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HivemindOS turns scattered runtimes into one governed operating system.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BFEF5-10C9-4290-A87D-B77246F3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80927A5-F60C-4039-86CB-461AE66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D284F57-8409-4609-8900-A3F45417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9" name="hive-core">
            <a:extLst xmlns:a="http://schemas.openxmlformats.org/drawingml/2006/main">
              <a:ext uri="{FF2B5EF4-FFF2-40B4-BE49-F238E27FC236}">
                <a16:creationId xmlns:a16="http://schemas.microsoft.com/office/drawing/2014/main" id="{9A94EFAE-70E6-417F-A565-51A9BD43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2667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552C2-14D8-4071-9091-238BF6AC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00375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HivemindOS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860B3-039E-459E-84BD-BC195A74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one fleet · one brain · one control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F9A44-6F13-429A-B071-7006A859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4B0813-8A74-47A3-97A8-FE5B133E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43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8D362-F4D9-48AF-9E68-ECBEC49B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29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43A60-0254-4F16-A325-74BA2F97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29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282FF-9178-4806-BD8A-AA763B99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84785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2C8C6-8538-439A-BA44-CA4C9CC7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84785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3ED16-97C0-4CBE-B15C-98FA63BB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0195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3DDA3-617C-4CE5-B7CB-E59BAFCD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0195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DC9586-DDB2-41E9-9FC0-06575EB4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E3CCE-B365-4BAB-8E4D-31C11F70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61350E-CAD2-49D4-BF1E-4F1E6809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Fleet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822491-77AC-43D8-B2F2-A9F9D9F0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trusted machines and runtimes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80C78F-4735-4343-B5FE-B5FDD873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41B67C-E0FB-4A1B-8415-C56A76C7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9EC26-2560-486F-8FC7-A36C25A6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14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Brain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4C8E37-8658-4654-B988-08F20D7D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43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durable memory and skills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462CE7-1CE6-4409-AFC6-0696B68F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F5B154-9BD4-4169-887B-319C3DFC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1B5CD0-44B0-4AF5-BE24-E51C7C75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A9ED86-90BB-48BC-A66A-2EC91702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contracts, retries, approvals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351643-3615-4F19-8E42-C4CF7203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67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EE807B-26FC-431B-B204-6A3D07A9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67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7ED5B1-B67A-4DC2-8911-4116B5FC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400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Wallet Rails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3C041F-96EE-4D1E-B9D5-29046884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29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controlled budgets and payments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BD015A-4EC2-48B0-B730-62D0A885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8635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D8C056-C60C-45FB-800B-B7BF5A71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86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104C3B-65E7-499D-A6F2-010A9B08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19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Outcome Proof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2B0C25-C4C2-4EF2-8E78-41B61F72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4483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receipts, evals, provenance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D8C5E0-40DC-4C79-972D-6AA3E136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B5253-A46F-4F0F-8AF5-BCDF8648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289B00-4A94-4C31-AF96-0A619EFE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19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 Fusion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68C6B7-8081-4771-A1A5-FE95A2A4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483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reusable capabilities compound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6C9CEC-F4A9-4CC1-8690-B9DC8DFA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483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2BFE36-416C-4FD1-B953-A0FD7B05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6134100"/>
            <a:ext cx="594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Runtime-neutral: Hermes · OpenClaw · OpenCode · Codex · Claude Code · Aeon · Evo</a:t>
            </a:r>
          </a:p>
        </p:txBody>
      </p:sp>
    </p:spTree>
    <p:extLst>
      <p:ext uri="{BB962C8B-B14F-4D97-AF65-F5344CB8AC3E}">
        <p14:creationId xmlns:p14="http://schemas.microsoft.com/office/powerpoint/2010/main" val="10695966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5BD75C5-857F-4532-BDCA-CCD500EC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9D4370B-0B78-4E34-9584-E9E0EECC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Flagship workflow-marker">
            <a:extLst xmlns:a="http://schemas.openxmlformats.org/drawingml/2006/main">
              <a:ext uri="{FF2B5EF4-FFF2-40B4-BE49-F238E27FC236}">
                <a16:creationId xmlns:a16="http://schemas.microsoft.com/office/drawing/2014/main" id="{1D50E12F-4CE9-4706-ADC4-1BD682B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Flagship workflow-label">
            <a:extLst xmlns:a="http://schemas.openxmlformats.org/drawingml/2006/main">
              <a:ext uri="{FF2B5EF4-FFF2-40B4-BE49-F238E27FC236}">
                <a16:creationId xmlns:a16="http://schemas.microsoft.com/office/drawing/2014/main" id="{C9A2B420-53A3-4077-9354-DDE87F80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F L A G S H I P   W O R K F L O W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E91B55-A72B-4FBA-B376-702B16A7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Zero Human Companies turn a goal into a bounded operating loop.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D4775-E6BA-4C4F-B47E-C611FA80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4C65D7C-D7F6-4449-AAB3-9AC3DD94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A757AFD0-EA23-40C3-AB89-D65EDF30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8BB88-83B0-48EE-B439-CCE90E96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47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Humans retain policy, funding, and exception control. Agents own the repeatable execution inside the contract.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A1859-EE6C-4A40-BEA5-AD726B65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C4BDA-A034-4D97-B412-C6E91C6F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00688-DBE9-44CD-9A98-B49206CB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Charter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C39D3-D559-43EE-B05D-EB0FD5F7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goal + done contract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463B3-A2A6-439E-8651-EF2A42E2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BF6543-5436-4FEA-8749-C823203D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928A9-69F5-48D9-8363-6541A055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9A07E-2C5B-4DB1-9015-F2C4E63F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Crew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DC6E40-90A4-49EC-B0C9-E3D9A3F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roles + capabilities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B8A18-369F-4745-8208-94EE583D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B7DC8-04D1-4358-A0F9-51A3CFEA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E7374-F72E-4BDD-AC91-4053BB40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D2E446-D628-4AA4-8D2A-D9D99FEA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Run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D36037-2944-421E-88E3-269E561C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dispatch + budgets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B0D282-A5A7-48D5-8AA7-B76849C3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B77E26-3663-452A-997A-179B4570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95006-84DF-4F65-AC90-F8E7FB5D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9E4846-BF96-4990-B791-66EEC5D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2F5148-EDA8-48D9-882F-AA2127B1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evals + approvals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CD442-ED78-48FF-81C5-7C399FCD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D0B3F-B5A5-4EFE-816C-0D5901CD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903F90-0A78-4298-BB93-870BD024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4039B2-2F42-4BE6-8DA6-EA23FAB9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Ship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AA4E0-6F42-4D4D-9AB0-F0FFACB2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deliverables + receipts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ECD26D-480A-46A0-93C5-A3F10A23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2CA137-0E80-4BA4-B522-AFC3FDA6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BAC8F5-E497-4386-B84C-71B1A5A6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7D478F-AFE3-447F-93F1-191D4C36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Learn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D52C9A-6D88-4066-B3D3-659B0DB0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memory + reusable skill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0EBD61-8BEC-4CCE-BE44-8FD86A6C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38675"/>
            <a:ext cx="11087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AC87E9-31EB-43F2-8EA9-8B0A6D0E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149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HUMAN CONTROL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FF1966-BD1E-49E9-AC37-D898D28B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funding · policy · risky approvals · kill switch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F13B44-D477-4FAD-867F-32A6A036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86325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07324D-FB83-4CC8-9A3A-4F66FA51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149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AGENT EXECUTION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35AE8E-B146-427C-B1E8-FFA997CF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219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work · retries · evidence · handoffs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AFED0E-3E46-4508-B9BE-69E33584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81575"/>
            <a:ext cx="1000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6B7A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6B7A"/>
                </a:solidFill>
                <a:latin typeface="Avenir Next"/>
                <a:ea typeface="Avenir Next"/>
                <a:cs typeface="Avenir Next"/>
              </a:rPr>
              <a:t>FREEZE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FB5688-49FB-448C-882E-901A505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14950"/>
            <a:ext cx="138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one-switch stop</a:t>
            </a:r>
          </a:p>
        </p:txBody>
      </p:sp>
    </p:spTree>
    <p:extLst>
      <p:ext uri="{BB962C8B-B14F-4D97-AF65-F5344CB8AC3E}">
        <p14:creationId xmlns:p14="http://schemas.microsoft.com/office/powerpoint/2010/main" val="2621414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B6B6453-8F11-49AA-BBD8-29C80327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D2366154-F927-4741-B79B-12744DFD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rust model-marker">
            <a:extLst xmlns:a="http://schemas.openxmlformats.org/drawingml/2006/main">
              <a:ext uri="{FF2B5EF4-FFF2-40B4-BE49-F238E27FC236}">
                <a16:creationId xmlns:a16="http://schemas.microsoft.com/office/drawing/2014/main" id="{8C2C8B0E-E836-4829-8BBB-5BBB3489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rust model-label">
            <a:extLst xmlns:a="http://schemas.openxmlformats.org/drawingml/2006/main">
              <a:ext uri="{FF2B5EF4-FFF2-40B4-BE49-F238E27FC236}">
                <a16:creationId xmlns:a16="http://schemas.microsoft.com/office/drawing/2014/main" id="{CB93AF5D-2436-45F2-9F2B-9D22E556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R U S T   M O D E L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B96122-2A4D-432A-8EF7-615FDFC5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Autonomy expands only when evidence earns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AC376-744B-4372-827E-8DD618D9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39C9F560-C7EB-4FB1-BE90-578820BA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BE46415-71FA-48F0-8469-865F3113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169BF-599C-46C3-A7F7-CD0AB1A2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9AA9B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2FA71-829E-4428-843F-5CD77A5E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9AA9BE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9AA9BE"/>
                </a:solidFill>
                <a:latin typeface="Georgia"/>
                <a:ea typeface="Georgia"/>
                <a:cs typeface="Georgia"/>
              </a:rPr>
              <a:t>L0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CC62D-7D3F-48CA-92C2-B4580B6C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Setup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BCCCA-D76F-41B5-BA17-4F4E8582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pieces exist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118BB-9629-4629-B0C8-93A14780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1C2E9D-2FA7-4437-9688-AF01474D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L1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B4E20-3A09-48A0-9934-5CD8B07F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Report-only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99A02-135C-4B19-BB62-C65317B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67200"/>
            <a:ext cx="1524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human-reviewed runs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B330-53E9-4DE4-AF9E-412A03E6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84D51-7DCB-4755-9EBC-A1E22638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L2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A28D3-C1EC-405C-A6B1-F9719CC1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Assisted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82E27-9F4A-40E9-A60C-FFBAD829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contracts + eval gates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F809E-5B7D-4222-A598-C9297860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4CE5A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F62EE-4AF4-4A48-92E2-E67E5BEC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L3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38B1D7-3D00-45C2-97B0-4351677C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050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unattended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BC48CA-FF8B-47F2-9E47-C271817C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146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budgets + receipts + handoffs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9E8376-645B-4334-8728-63FE6AF8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2F2CBF-37AC-4FF3-9533-B85D776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098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EVERY LOOP CARRIES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051B70-2751-4061-BA87-3C4C7FCE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8605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D76DE7-6341-4726-9D09-0BE483EC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7652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Success contract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94C3E6-07FE-4AE3-BB47-73138A0B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051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what done means before work starts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057885-54B2-4AB2-AFC9-6F79F7D1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27660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299862-A26E-42EC-A0BB-33493C8E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6707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Evaluation gates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2960B-171E-4047-864E-D11D0048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956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evidence checked before completion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277BBF-61E2-4676-B09C-113CCEAD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6715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2A0A90-1D84-46CF-AD4B-80E15253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5762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Spend boundaries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AD18DE-5D00-4696-90E5-6045F287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862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run, retry, and money limits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68B3AA-BC4B-4523-88A5-FDD9FEED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E3F3AD-8E90-4659-B23F-366804FE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4817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Attribution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D63608-F8F9-4625-84CD-0716185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767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who did what, when, and why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5D79A2-1A91-415B-931F-7D31D8D8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245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The product is not 'more autonomy.' It is a measurable path to safer autonomy.</a:t>
            </a:r>
          </a:p>
        </p:txBody>
      </p:sp>
    </p:spTree>
    <p:extLst>
      <p:ext uri="{BB962C8B-B14F-4D97-AF65-F5344CB8AC3E}">
        <p14:creationId xmlns:p14="http://schemas.microsoft.com/office/powerpoint/2010/main" val="20278805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83C7494-9E33-4AE0-A37E-9C5441E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66CAF6F0-7189-4157-84E6-D37B1FF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Compounding advantage-marker">
            <a:extLst xmlns:a="http://schemas.openxmlformats.org/drawingml/2006/main">
              <a:ext uri="{FF2B5EF4-FFF2-40B4-BE49-F238E27FC236}">
                <a16:creationId xmlns:a16="http://schemas.microsoft.com/office/drawing/2014/main" id="{EB7B3C59-31DD-456F-8BB7-8FC028F2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Compounding advantage-label">
            <a:extLst xmlns:a="http://schemas.openxmlformats.org/drawingml/2006/main">
              <a:ext uri="{FF2B5EF4-FFF2-40B4-BE49-F238E27FC236}">
                <a16:creationId xmlns:a16="http://schemas.microsoft.com/office/drawing/2014/main" id="{36A37495-D2C6-411F-9592-CA027AB6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 O M P O U N D I N G   A D V A N T A G E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7CEF1F-5DDF-4053-A3E8-D4B68953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operational memory lowers repeated model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987F9-DAD0-4775-BD3F-A5148D00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4007791A-6265-4EF0-A18B-F2F978F4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7C04115-2455-435F-9629-49A2DDB8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05604-1127-4897-AB8D-20454C74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3714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57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99.2%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6B810-D8BE-4156-8418-D39FAC7F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8132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fewer 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50A67-05E0-42DF-B8DA-5C904A74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09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43,754  →  370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53BB6-D08F-40C8-BC09-32AB69E2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Provider-reported shared-brain recall benchmark. It is evidence of mechanism—not a blanket customer savings forecast.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4E498-8C23-4F76-B59A-345E955E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478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60B4F-9757-476F-8944-4892D9DE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812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1E6C3-9C3D-4C39-A626-533ADBBE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288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106723-85AC-427F-997C-81B340E4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98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fleet retrieves prior decisions instead of rebuilding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CC9F7-EB0F-43CF-835F-74896273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146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0CC9C-B34B-4DF4-8D4B-0C5C2201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480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485B2A-50A3-41BC-8A45-3163CC5A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956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 Fusion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C0C1C3-984D-41AD-A422-F807D13B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766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 successful workflow becomes a reusable capability for every agent.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2AC7F-D600-42E9-8088-57395B8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814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0C91B-A5E1-4535-B836-B57B616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14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CBA25E-8BD6-410D-B0D5-F34D99E4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624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Evals + lineage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EC907-EF94-4517-A4E3-16013D3B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434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Better methods survive; weak methods are measured and replaced.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BC5FBE-8B54-4895-9832-BDF27F80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381625"/>
            <a:ext cx="5924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44FD38-6DCF-4CC6-89F1-E632FA7D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581650"/>
            <a:ext cx="5467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MORE RUNS  →  MORE REUSABLE CONTEXT  →  LOWER REPEATED WORK</a:t>
            </a:r>
          </a:p>
        </p:txBody>
      </p:sp>
    </p:spTree>
    <p:extLst>
      <p:ext uri="{BB962C8B-B14F-4D97-AF65-F5344CB8AC3E}">
        <p14:creationId xmlns:p14="http://schemas.microsoft.com/office/powerpoint/2010/main" val="14828847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959D2FA-6C93-4980-993F-37647502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E4FDA2EC-48F5-40E4-9365-11031D7A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Why now-marker">
            <a:extLst xmlns:a="http://schemas.openxmlformats.org/drawingml/2006/main">
              <a:ext uri="{FF2B5EF4-FFF2-40B4-BE49-F238E27FC236}">
                <a16:creationId xmlns:a16="http://schemas.microsoft.com/office/drawing/2014/main" id="{043F2AD5-96DE-4AB4-817C-BA181BC5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Why now-label">
            <a:extLst xmlns:a="http://schemas.openxmlformats.org/drawingml/2006/main">
              <a:ext uri="{FF2B5EF4-FFF2-40B4-BE49-F238E27FC236}">
                <a16:creationId xmlns:a16="http://schemas.microsoft.com/office/drawing/2014/main" id="{12B561B5-6725-4962-AE2F-24697967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 H Y   N O W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1CF86B-FFCA-4822-9E16-F3C07D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Agent proliferation creates demand for a neutral operating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3F8B4-B7C4-40DF-90DC-B2FE5C89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1C5A92CD-B9F4-470D-B09C-CBCBB932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F446578-4DF0-4B6C-8D95-BAD80BF5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931FA-44F7-4B43-B22C-79CDF05B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AGENT SPRAWL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05AF9-CD54-42BB-925C-8E232F45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E30E0-ACDB-480B-B617-B3D899C0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Every runtime adds another silo, context boundary, and operating surface.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55126-0151-40AA-AEC8-D6887D61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968B39-71B3-40A0-A3BE-B5565613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LOCAL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E3772-B579-4E42-9289-BDDC40D3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888E00-77FC-4FB1-B436-ABBC2083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Real work requires private links, user-owned data, and explicit control.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688EFA-C7B4-441E-B4B0-DA5766F0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B8396-67A4-4B77-BE96-43B4D628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MACHINE COMMERCE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E94C5-EBF2-402C-A3D5-6009ACB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C39D2-F282-4823-8125-DD5E9BA7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Wallets and pay-per-use APIs let software hold budgets and buy services.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B2413-2D98-4B9D-BC5E-34E7DE16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F4CB9-9EB5-4DE0-88C0-40E9C12E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91150"/>
            <a:ext cx="5410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14A96-4F4E-4AA3-8AD4-FBBE526F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572125"/>
            <a:ext cx="461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OPERATING LAYER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ABFF3-3F4B-48F5-BB63-FCA995AC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800725"/>
            <a:ext cx="4610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memory + coordination + governance + economic agency</a:t>
            </a:r>
          </a:p>
        </p:txBody>
      </p:sp>
    </p:spTree>
    <p:extLst>
      <p:ext uri="{BB962C8B-B14F-4D97-AF65-F5344CB8AC3E}">
        <p14:creationId xmlns:p14="http://schemas.microsoft.com/office/powerpoint/2010/main" val="18562533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64172D91-9680-4A95-ACF4-3092A1AF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FD242242-CB7D-444A-9FB1-104EAF3C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073A3D57-BCCA-4F70-A24E-CE49F1FA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976ACD22-7D48-4116-99E8-D50BE2F2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COMMERCIAL 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32F24-85C3-4399-88C0-81BD4195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32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 platform compounds revenue when agents run—and when they transact.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92135F-FCF6-41CE-ACD1-076D9330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same governed agent relationship creates a recurring operating floor and a volume-driven economic layer.</a:t>
            </a:r>
          </a:p>
        </p:txBody>
      </p:sp>
      <p:sp>
        <p:nvSpPr>
          <p:cNvPr id="7" name="operations-engine">
            <a:extLst xmlns:a="http://schemas.openxmlformats.org/drawingml/2006/main">
              <a:ext uri="{FF2B5EF4-FFF2-40B4-BE49-F238E27FC236}">
                <a16:creationId xmlns:a16="http://schemas.microsoft.com/office/drawing/2014/main" id="{D150582E-1112-4F89-B9C8-40656C05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429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35D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88D10-C00F-4FBB-B707-AB6D3AE0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01  OPERATE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D42AB-2DA8-4213-BF47-4D21FA0A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Recurring floor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3FF56-1AB0-4896-80F8-4EF75689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62300"/>
            <a:ext cx="2571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subscriptions</a:t>
            </a:r>
          </a:p>
          <a:p xmlns:a="http://schemas.openxmlformats.org/drawingml/2006/main">
            <a:pPr algn="l">
              <a:def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Managed execution + models</a:t>
            </a:r>
          </a:p>
          <a:p xmlns:a="http://schemas.openxmlformats.org/drawingml/2006/main">
            <a:pPr algn="l">
              <a:def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Hosted agents and APIs</a:t>
            </a:r>
          </a:p>
          <a:p xmlns:a="http://schemas.openxmlformats.org/drawingml/2006/main">
            <a:pPr algn="l">
              <a:def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 controls + 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FE6A2-9D6B-4488-8D50-84298023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Near-term proof: retained paid workspaces and contribution margin.</a:t>
            </a:r>
          </a:p>
        </p:txBody>
      </p:sp>
      <p:sp>
        <p:nvSpPr>
          <p:cNvPr id="12" name="transaction-engine">
            <a:extLst xmlns:a="http://schemas.openxmlformats.org/drawingml/2006/main">
              <a:ext uri="{FF2B5EF4-FFF2-40B4-BE49-F238E27FC236}">
                <a16:creationId xmlns:a16="http://schemas.microsoft.com/office/drawing/2014/main" id="{114C825A-0782-4515-8970-D779AE14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52625"/>
            <a:ext cx="3429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8B78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AC9F2-8E3C-4807-A8D6-EAE164DD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09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02  TRANSACT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3804D-A6A9-4A36-AD46-B42176D2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71750"/>
            <a:ext cx="2667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Asymmetric</a:t>
            </a:r>
          </a:p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upside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1BCF9-3854-49DB-9C6F-3581D6A8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718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Trading execution fees</a:t>
            </a:r>
          </a:p>
          <a:p xmlns:a="http://schemas.openxmlformats.org/drawingml/2006/main">
            <a:pPr algn="l"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Payment + x402 routing</a:t>
            </a:r>
          </a:p>
          <a:p xmlns:a="http://schemas.openxmlformats.org/drawingml/2006/main">
            <a:pPr algn="l"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Hyperliquid builder fees</a:t>
            </a:r>
          </a:p>
          <a:p xmlns:a="http://schemas.openxmlformats.org/drawingml/2006/main">
            <a:pPr algn="l"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Base attribution + later rewards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6F2C4-8285-45E3-BB7A-6CCBAA76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2714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Scale proof: fee-bearing GMV, realized take rate, and settlement success.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A87C93-611C-463B-A76B-BD25B3E8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813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2727E-CE93-476B-9F96-B752CCEE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813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governed-agent-node">
            <a:extLst xmlns:a="http://schemas.openxmlformats.org/drawingml/2006/main">
              <a:ext uri="{FF2B5EF4-FFF2-40B4-BE49-F238E27FC236}">
                <a16:creationId xmlns:a16="http://schemas.microsoft.com/office/drawing/2014/main" id="{22414FF1-365C-4A41-A0FF-DA590434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62250"/>
            <a:ext cx="20574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4D85EE-435A-4237-98E2-D7AFF34C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9900"/>
            <a:ext cx="16764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GOVERNED</a:t>
            </a:r>
          </a:p>
          <a:p xmlns:a="http://schemas.openxmlformats.org/drawingml/2006/main">
            <a:pPr algn="ctr">
              <a:defRPr sz="16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4150C9-4C7A-4522-9FD1-03594862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648075"/>
            <a:ext cx="1676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same product · same trust layer</a:t>
            </a:r>
          </a:p>
        </p:txBody>
      </p:sp>
      <p:sp>
        <p:nvSpPr>
          <p:cNvPr id="22" name="compounding-loop">
            <a:extLst xmlns:a="http://schemas.openxmlformats.org/drawingml/2006/main">
              <a:ext uri="{FF2B5EF4-FFF2-40B4-BE49-F238E27FC236}">
                <a16:creationId xmlns:a16="http://schemas.microsoft.com/office/drawing/2014/main" id="{D9BED266-A7A3-472D-AA95-F4FBCD03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0C2E0F-2A23-4A09-B82D-9A2FCAA2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14950"/>
            <a:ext cx="7010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more reliable agents  →  more economic activity  →  more evidence + retention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84311B-FDD9-469D-97F9-60DC14E5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A771D3-49F1-4CFC-9DD0-BFDC6560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Sources: HivemindOS revenue model and live commercial policy endpoints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69E65F-E00F-42CF-A0DE-3B258B94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380198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AC11C9C-65E1-4EAC-81B0-14717CCD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B9302C4-C4AB-452C-B437-2410544A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Free-to-paid boundary-marker">
            <a:extLst xmlns:a="http://schemas.openxmlformats.org/drawingml/2006/main">
              <a:ext uri="{FF2B5EF4-FFF2-40B4-BE49-F238E27FC236}">
                <a16:creationId xmlns:a16="http://schemas.microsoft.com/office/drawing/2014/main" id="{1EFFEED6-58CC-439D-A176-F2B95EF2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Free-to-paid boundary-label">
            <a:extLst xmlns:a="http://schemas.openxmlformats.org/drawingml/2006/main">
              <a:ext uri="{FF2B5EF4-FFF2-40B4-BE49-F238E27FC236}">
                <a16:creationId xmlns:a16="http://schemas.microsoft.com/office/drawing/2014/main" id="{89208E74-AF56-4785-9079-E3B5E916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F R E E - T O - P A I D   B O U N D A R Y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CFCFBC-247B-47D7-B182-4394E931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The open core earns trust. Managed continuity earns revenue.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6EB78-FC30-440B-A451-FF7EB507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5FE154A-ED48-48FB-B7B7-35FDE525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Commercial boundary: docs/for-investors/index.md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78176AE-2CE7-43B8-91CD-242A7B69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E69EB-8702-41B6-B340-8F70E308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CA2007-0250-4263-87E8-EA190FE7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90700"/>
            <a:ext cx="5524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A715C-0453-4F04-98B9-C1C83F35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FREE LOCAL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89B97-36FE-4EA4-B2F0-483527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Own the stack.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469B8-46F9-4B45-AC78-B3DBA299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0BDE0-0A3F-47A6-9435-8E9675C2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Local agents and memory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3422C-F71B-44F1-B756-F40CC6C9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B4767-6D81-4A17-A338-64D70F89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66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BYOK models and APIs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FFFC9-E071-4208-9A13-5DD91C55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56F07-07F4-4CBF-9A17-7411338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719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Linked user-owned machines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501622-D795-46D7-A904-FEC93BED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C5839A-19A0-48EC-830A-1608F0AB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672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Self-hosted runtimes and workflows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CC101-9E9B-4114-A53C-248CB3A6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 MANAGED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9329BB-FF4A-4549-AC52-0C7FBCC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19350"/>
            <a:ext cx="438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Delegate the operation.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F351BD-38A2-4A27-BA2C-04BA7FE2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813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382AF-E402-46D7-8D10-8941E568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Always-on agent runtime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0A5A2C-77D3-401C-AC5E-64B372CB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766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672A9-6848-4DE8-8A81-9E7C4F07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766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Hosted schedules, monitoring, and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86DA6-80FC-4D2C-8B80-0BEF855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F8D2DF-61D3-491A-AF09-87CB60E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719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approvals, budgets, and audit trail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2B5D97-19E6-46AB-8589-45234204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4C036F-95BC-4127-9E63-7E616C20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672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Managed hosting, models, APIs, identity, and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CF859-ECDF-4AE5-9BD1-B15BE783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29300"/>
            <a:ext cx="670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4B1164-B05F-418C-A481-56F00113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953125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PAYWALL IS THE ONGOING SERVICE—NOT THE USER'S OWN AGENTS, DATA, OR MACHINES.</a:t>
            </a:r>
          </a:p>
        </p:txBody>
      </p:sp>
    </p:spTree>
    <p:extLst>
      <p:ext uri="{BB962C8B-B14F-4D97-AF65-F5344CB8AC3E}">
        <p14:creationId xmlns:p14="http://schemas.microsoft.com/office/powerpoint/2010/main" val="2772359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CD1C005-85E7-466E-9A8B-2A04DEC9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0DAAF47E-0020-4D78-A419-2CEFDCE9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Commercial packaging-marker">
            <a:extLst xmlns:a="http://schemas.openxmlformats.org/drawingml/2006/main">
              <a:ext uri="{FF2B5EF4-FFF2-40B4-BE49-F238E27FC236}">
                <a16:creationId xmlns:a16="http://schemas.microsoft.com/office/drawing/2014/main" id="{1DC3256A-545A-4D96-AE7C-E897A486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Commercial packaging-label">
            <a:extLst xmlns:a="http://schemas.openxmlformats.org/drawingml/2006/main">
              <a:ext uri="{FF2B5EF4-FFF2-40B4-BE49-F238E27FC236}">
                <a16:creationId xmlns:a16="http://schemas.microsoft.com/office/drawing/2014/main" id="{09164803-820A-49D9-8F45-732CF746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 O M M E R C I A L   P A C K A G I N G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8FD81D-0A8D-4256-BDA4-E68D9281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 small pricing ladder tests willingness to pay without hiding cost.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3C2E8-E317-45E9-9CB6-09E2378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7A648B7-5928-4DFE-82BC-4F5B9E70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Prices are launch hypotheses under design-partner validation—not proven demand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554CF39-0B8D-4D2E-B4B0-1A99CD7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1A539-8ED4-4323-8C1C-E8EC94C7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C3B5A-45B1-4820-917D-375773EA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240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70F83-DED2-4BBB-B0B6-51489F3E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240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PRICE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A75CA-6DA1-41FF-90C8-9CA7DD89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2407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WHO IT 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0D36BA-8ADB-487F-8E2F-DB03CF02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2407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WHAT IT PROVES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348CF-4CD0-4216-90A8-C0F2E367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5D2C1-46C2-46A3-88CD-937828F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955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Community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C3A2FA-4E07-461B-9027-13C059ED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6955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24036-63D8-428D-8C04-4D32B298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955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Local builders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BA01E-F45D-4EC3-AFEA-E930E9C5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55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Adoption + trust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BBA76-B84A-48B0-84D5-95ECE4A4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72652-94F6-43D6-8060-80E9ADFE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Pro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7A9B1C-39B8-44B0-B656-56B3E4F2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051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$39 / month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02B8D-A1F3-4A99-82A8-A4B3149B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051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One-person operations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62D61-9A91-42F2-8CD6-2D3B0EB6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Recurring managed value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B2A68A-F409-477C-9A74-16C5085F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F3C5C-21CF-48DF-9042-07F43038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Team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36B6A5-348C-43E5-AA48-38FD5FCE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147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$299 / month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956C17-EDDF-48D2-AC37-F6FF3D67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147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Five-member workspace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846CF6-5DFD-41DD-B408-F8D41C09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147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Governance + collaboration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F2B427-EF6A-4EDE-836E-F40EA2FE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D24DC-AFBB-45BF-BE35-B6611CB8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AAA5E3-C32D-44E8-9C36-9DA132A5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5243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$30K / year min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336150-F97C-4B5C-A5BC-AD9FDD10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243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Private/BYOC teams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E85A45-B54D-4D90-8E30-E186835B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243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Security + support premium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1038E0-9AF5-4CB7-981D-B2EFA5F2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00250"/>
            <a:ext cx="2743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95791A-DB34-4440-9E40-AD6CFF63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86000"/>
            <a:ext cx="2209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DESIGN-PARTNER PILOT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BE8B55-C52B-4A1C-937B-77C70039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86050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$5,000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138CD9-D2FC-49FE-BF23-B466B48F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19450"/>
            <a:ext cx="2209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six weeks · paid upfront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B6FEBF-9600-4226-9CF1-52A18EB9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385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597051-29B8-4B7A-B4CC-36250C91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38575"/>
            <a:ext cx="21526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 production workflow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up to three managed agents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monitoring + approvals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outcome receipts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716BED-28C4-41C8-8DB5-5CBFF0B4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276850"/>
            <a:ext cx="2743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Subscriptions cover the control plane. Variable infrastructure remains metered.</a:t>
            </a:r>
          </a:p>
        </p:txBody>
      </p:sp>
    </p:spTree>
    <p:extLst>
      <p:ext uri="{BB962C8B-B14F-4D97-AF65-F5344CB8AC3E}">
        <p14:creationId xmlns:p14="http://schemas.microsoft.com/office/powerpoint/2010/main" val="18934058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F5A7656-C70B-45C9-975B-359677CC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9A4D64E-8B21-4174-BBBD-F063717B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Expansion economics-marker">
            <a:extLst xmlns:a="http://schemas.openxmlformats.org/drawingml/2006/main">
              <a:ext uri="{FF2B5EF4-FFF2-40B4-BE49-F238E27FC236}">
                <a16:creationId xmlns:a16="http://schemas.microsoft.com/office/drawing/2014/main" id="{EFF0CB04-94E7-43FE-9491-3929F347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Expansion economics-label">
            <a:extLst xmlns:a="http://schemas.openxmlformats.org/drawingml/2006/main">
              <a:ext uri="{FF2B5EF4-FFF2-40B4-BE49-F238E27FC236}">
                <a16:creationId xmlns:a16="http://schemas.microsoft.com/office/drawing/2014/main" id="{629EDCDC-53C1-4486-996F-32B72BAB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 X P A N S I O N   E C O N O M I C S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00E04F-98C2-42FD-BBD2-D8D38268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Subscriptions create the floor. Metered usage expands each retained workspace.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80478-50D0-43F0-99AC-5F8B6131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AF30496-EDBF-4A90-A9DF-D445C159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Server-owned catalog examples: docs/for-investors/index.md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501D849-9442-458B-9BEC-9B97400F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F6725-4C8C-4E50-9887-8ED6431B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Recurring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2AEFE-559B-4100-832C-0D693E08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048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282198-0482-4E67-996C-2FC1BAC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CLOUD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SUBSCRIPTION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EE88E-51B0-4883-B77D-D91BD018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persistent control plane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governance · monitoring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shared operating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BD173-63C7-44E6-9A15-68996A17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57450"/>
            <a:ext cx="1428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F5DF4-043A-4009-A046-96041CA1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2890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MANAGED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9E6DE-2ED1-4DC5-94FE-530C9F17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2895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$0.020–$0.110 / running hour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72F07-8F96-4405-9F46-3D990DD3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857500"/>
            <a:ext cx="14287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71781E-B568-4245-B36B-4D9CAAE3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02895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HOSTED APPS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6947C9-6375-47ED-A34E-199A8F82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2900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$5–$25 / 30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CF1738-E1F2-4489-94B7-96ECD20B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00400"/>
            <a:ext cx="1428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4CE5A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5BD9A-CBC3-405F-A1FA-DA2F89D4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7185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MODELS + APIS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22990A-1AF6-441A-BFF3-884E0CFD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7190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upstream cost + service markup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24DE4-163F-470D-BF86-629BBAE5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562350"/>
            <a:ext cx="14287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EC2EC-B733-4A8E-9A4A-C138A9A1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3380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43BF31-6241-47E4-B099-62AB6CBB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3385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deployment + identity + support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EDCE3-B75D-4860-822B-45278019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29200"/>
            <a:ext cx="670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METERED EXPANSION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F5319F-87A4-4868-9E3E-13830004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76850"/>
            <a:ext cx="6705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F45D4-593F-4729-8431-163E24EF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62600"/>
            <a:ext cx="10248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C325A8-5A4E-446D-8EE9-F776CC6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43575"/>
            <a:ext cx="9829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SUBSCRIPTION REVENUE  +  HOSTED PRODUCT REVENUE  +  MANAGED EXECUTION GROSS PROFIT  + 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6170872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712C9DB-C608-44B8-8932-CE6CCD6F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ABDC5B6D-EFCC-4796-B88B-42D1F483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Operating discipline-marker">
            <a:extLst xmlns:a="http://schemas.openxmlformats.org/drawingml/2006/main">
              <a:ext uri="{FF2B5EF4-FFF2-40B4-BE49-F238E27FC236}">
                <a16:creationId xmlns:a16="http://schemas.microsoft.com/office/drawing/2014/main" id="{CB44D8B5-D988-4D42-B9E6-7E7E91B0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Operating discipline-label">
            <a:extLst xmlns:a="http://schemas.openxmlformats.org/drawingml/2006/main">
              <a:ext uri="{FF2B5EF4-FFF2-40B4-BE49-F238E27FC236}">
                <a16:creationId xmlns:a16="http://schemas.microsoft.com/office/drawing/2014/main" id="{FC5002AE-F900-4C6F-B6C3-286C9F0B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 P E R A T I N G   D I S C I P L I N E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FAAC92-4329-4097-BD2C-5072829C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The model is managed by cohorts, margin, and evidence gates.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DCDF3-D775-4C66-ADCF-315C1C1B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C6EA78D8-2959-4E40-9E70-4F61BC5B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Illustrations are equations and gates—not revenue forecasts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D7A19A3-FD0E-41FE-84DB-D90EC025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126C7-72B2-483D-A1D8-E556E96A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110871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812F0-9FCD-458D-ACB9-9ECD7822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ACTIVATED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0CB7D-60A0-41BC-BF96-2AE0B3CE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workspaces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591D8C-CAF7-4D30-9D40-A3DED15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0867D-8C02-438B-A460-E07F6373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0E33D0-D6B4-430A-9829-D9410F16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AFDE6-2B66-4D8C-91F6-2B04FFFA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CDE66-0A33-4EEB-90DE-A9569EEE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CA913-8196-4542-8921-D96E6236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72520-D8BD-4C36-B69A-A9C9A662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RETAINED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9507-F790-49A7-ACB6-5C57B238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subscription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66F9E-3D02-42B7-97C4-5260ABB1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0E0C8-0606-4123-8F9E-930418D8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5F584-3811-4E18-A130-0EC2DE6A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USAGE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32B27-3068-45EF-9011-8042DAA0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expansion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54B8A2-2FA2-450D-8F31-7D2785B4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197DB-5B85-442D-BAE8-8BDCC61E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30 / 90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D7E3E6-0AD5-44CC-A7B6-79EB27D7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DAY PAID RETENTION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9E0FA7-B2D5-44BD-B77B-E5AFD049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 customers stay?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D4600B-8CB0-451F-80A4-DB82864A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ED76F4-37EC-4A28-BCEA-9C5256F3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RRPW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07A137-02E8-4E07-ACD0-5599E02F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RECURRING REVENUE / WORKSPACE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E29F6D-CB76-40FF-88BE-93CDFA6B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Does the base deepen?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12298F-527A-4DFB-8021-A7DE17C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C83771-9657-448B-882F-2C15F35C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GP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33FFD1-6457-4032-B968-8589A4A4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MANAGED USAGE GROSS PROFIT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899D3E-EBCF-4431-A670-585AE26F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Does expansion create value?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7B5AA1-A655-4CF7-8B0C-1B5F4614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604226-27F4-4C95-88A5-B61904BF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397257-8759-441F-A12C-8449D609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CONTRIBUTION MARGIN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B82443-00F5-4847-9CFB-748C9AA6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Can the model scale?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638165-C1AB-444D-8024-99586BE6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EVIDENCE GATES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529D3A-3299-4480-960B-B0F72B9D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A1B014-12D2-4FBB-8471-B65AE232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SELF-SERVE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C8A14F-FE4D-43CA-A148-4A614E97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repeated paid activation + retained usage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3B70C2-7524-4176-A34C-A6C75015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552F0B-E6B4-49D3-86DA-5B7F93EA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TEAM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090326-3040-4638-8221-9B67DB2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multi-user approval and history demand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68B180-77CF-4776-ACCA-CAE2924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8AB830-6429-441A-8A22-10E418CF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5DC31F-4D25-4040-B291-EF329731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repeatable use case + security readiness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47321B-919C-4AAF-A8E1-183008E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D97D13-BF41-4373-996E-843D497D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MARKETPLACE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5BC967-0045-4C3D-8624-9E18A731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retained buyers seeking reusable supply</a:t>
            </a:r>
          </a:p>
        </p:txBody>
      </p:sp>
    </p:spTree>
    <p:extLst>
      <p:ext uri="{BB962C8B-B14F-4D97-AF65-F5344CB8AC3E}">
        <p14:creationId xmlns:p14="http://schemas.microsoft.com/office/powerpoint/2010/main" val="17497919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DE35E26C-FDDB-42B2-AB17-1621291E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96FEAD91-BF27-4B61-8E5D-E986023D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3-marker">
            <a:extLst xmlns:a="http://schemas.openxmlformats.org/drawingml/2006/main">
              <a:ext uri="{FF2B5EF4-FFF2-40B4-BE49-F238E27FC236}">
                <a16:creationId xmlns:a16="http://schemas.microsoft.com/office/drawing/2014/main" id="{71DBAE2C-9E3D-460A-A68C-C8A92BFB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3-label">
            <a:extLst xmlns:a="http://schemas.openxmlformats.org/drawingml/2006/main">
              <a:ext uri="{FF2B5EF4-FFF2-40B4-BE49-F238E27FC236}">
                <a16:creationId xmlns:a16="http://schemas.microsoft.com/office/drawing/2014/main" id="{7A1AA3A9-9459-4459-B514-F5F71615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TRANSACTION LEVERAGE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A49CC-8709-4425-9B9F-06017428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4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At scale, transaction revenue can overtake subscriptions.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2F502-A4AB-461C-8D5F-6AAFD6A7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628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Illustrative gross platform-fee sensitivity—not a forecast.</a:t>
            </a:r>
          </a:p>
        </p:txBody>
      </p:sp>
      <p:sp>
        <p:nvSpPr>
          <p:cNvPr id="7" name="formula-rail">
            <a:extLst xmlns:a="http://schemas.openxmlformats.org/drawingml/2006/main">
              <a:ext uri="{FF2B5EF4-FFF2-40B4-BE49-F238E27FC236}">
                <a16:creationId xmlns:a16="http://schemas.microsoft.com/office/drawing/2014/main" id="{6FCA2AFE-5E43-4831-B772-81F7DB62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3812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5E302-57D7-42A2-A425-FBE18BC3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REVENUE EQUATION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9CEB3-1AA6-4198-AE68-D753047A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Eligible agent</a:t>
            </a:r>
          </a:p>
          <a:p xmlns:a="http://schemas.openxmlformats.org/drawingml/2006/main">
            <a:pPr algn="l">
              <a:defRPr sz="15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GMV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8C7C4-5106-4DC2-8055-B01FE04F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 realized net take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6C04BB-FAFF-479C-A522-6F07D771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AB27F-521B-4E17-8D1D-3C6F08CB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+ rewards actually earned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3FEB8-FC48-4245-A7A3-422D6954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Caps, rail mix, failures, rebates, settlement cost, fraud loss, and regulation change realized revenue.</a:t>
            </a:r>
          </a:p>
        </p:txBody>
      </p:sp>
      <p:sp>
        <p:nvSpPr>
          <p:cNvPr id="14" name="sensitivity-header-0">
            <a:extLst xmlns:a="http://schemas.openxmlformats.org/drawingml/2006/main">
              <a:ext uri="{FF2B5EF4-FFF2-40B4-BE49-F238E27FC236}">
                <a16:creationId xmlns:a16="http://schemas.microsoft.com/office/drawing/2014/main" id="{5BB559D6-19E1-4EAC-9248-A87140A5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08468-337D-4999-B86A-D7BBAAFB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ELIGIBLE ANNUAL GMV</a:t>
            </a:r>
          </a:p>
        </p:txBody>
      </p:sp>
      <p:sp>
        <p:nvSpPr>
          <p:cNvPr id="16" name="sensitivity-header-1">
            <a:extLst xmlns:a="http://schemas.openxmlformats.org/drawingml/2006/main">
              <a:ext uri="{FF2B5EF4-FFF2-40B4-BE49-F238E27FC236}">
                <a16:creationId xmlns:a16="http://schemas.microsoft.com/office/drawing/2014/main" id="{71F5AC75-8389-450E-8E40-ECDD1AF4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52625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EF556-A865-4AD1-9F89-2CF17955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95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10 BPS</a:t>
            </a:r>
          </a:p>
        </p:txBody>
      </p:sp>
      <p:sp>
        <p:nvSpPr>
          <p:cNvPr id="18" name="sensitivity-header-2">
            <a:extLst xmlns:a="http://schemas.openxmlformats.org/drawingml/2006/main">
              <a:ext uri="{FF2B5EF4-FFF2-40B4-BE49-F238E27FC236}">
                <a16:creationId xmlns:a16="http://schemas.microsoft.com/office/drawing/2014/main" id="{6EE717FF-5F37-40D2-BAEB-56893CC8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52625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C7425-8D01-4028-948E-4260351B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95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20 BPS</a:t>
            </a:r>
          </a:p>
        </p:txBody>
      </p:sp>
      <p:sp>
        <p:nvSpPr>
          <p:cNvPr id="20" name="sensitivity-header-3">
            <a:extLst xmlns:a="http://schemas.openxmlformats.org/drawingml/2006/main">
              <a:ext uri="{FF2B5EF4-FFF2-40B4-BE49-F238E27FC236}">
                <a16:creationId xmlns:a16="http://schemas.microsoft.com/office/drawing/2014/main" id="{0980F018-822E-44DA-B5B2-B4EA8E3A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52625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8C5C61-A306-4016-BCE0-16288274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95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50 BPS</a:t>
            </a:r>
          </a:p>
        </p:txBody>
      </p:sp>
      <p:sp>
        <p:nvSpPr>
          <p:cNvPr id="22" name="sensitivity-0-0">
            <a:extLst xmlns:a="http://schemas.openxmlformats.org/drawingml/2006/main">
              <a:ext uri="{FF2B5EF4-FFF2-40B4-BE49-F238E27FC236}">
                <a16:creationId xmlns:a16="http://schemas.microsoft.com/office/drawing/2014/main" id="{E9034CC2-1C24-4FF0-BC14-FCC599CE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431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B0F557-7B39-46B5-B82A-79D3D8C1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52725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$100M</a:t>
            </a:r>
          </a:p>
        </p:txBody>
      </p:sp>
      <p:sp>
        <p:nvSpPr>
          <p:cNvPr id="24" name="sensitivity-0-1">
            <a:extLst xmlns:a="http://schemas.openxmlformats.org/drawingml/2006/main">
              <a:ext uri="{FF2B5EF4-FFF2-40B4-BE49-F238E27FC236}">
                <a16:creationId xmlns:a16="http://schemas.microsoft.com/office/drawing/2014/main" id="{5E77BA72-3A5A-4E5D-9F83-CEA4C55C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4317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E7F78A-104D-49A8-ACB7-B4B0C31C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5272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$100K</a:t>
            </a:r>
          </a:p>
        </p:txBody>
      </p:sp>
      <p:sp>
        <p:nvSpPr>
          <p:cNvPr id="26" name="sensitivity-0-2">
            <a:extLst xmlns:a="http://schemas.openxmlformats.org/drawingml/2006/main">
              <a:ext uri="{FF2B5EF4-FFF2-40B4-BE49-F238E27FC236}">
                <a16:creationId xmlns:a16="http://schemas.microsoft.com/office/drawing/2014/main" id="{6D455ADC-C482-4351-A7D2-A788BF6B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4317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FA5CCB-39A7-46EE-BBC8-3B1F0566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5272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$200K</a:t>
            </a:r>
          </a:p>
        </p:txBody>
      </p:sp>
      <p:sp>
        <p:nvSpPr>
          <p:cNvPr id="28" name="sensitivity-0-3">
            <a:extLst xmlns:a="http://schemas.openxmlformats.org/drawingml/2006/main">
              <a:ext uri="{FF2B5EF4-FFF2-40B4-BE49-F238E27FC236}">
                <a16:creationId xmlns:a16="http://schemas.microsoft.com/office/drawing/2014/main" id="{FED86632-3CF5-4D15-B7D7-7A3AA8A3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4317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EA8F86-2310-407D-810D-0D6BB3BD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5272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$500K</a:t>
            </a:r>
          </a:p>
        </p:txBody>
      </p:sp>
      <p:sp>
        <p:nvSpPr>
          <p:cNvPr id="30" name="sensitivity-1-0">
            <a:extLst xmlns:a="http://schemas.openxmlformats.org/drawingml/2006/main">
              <a:ext uri="{FF2B5EF4-FFF2-40B4-BE49-F238E27FC236}">
                <a16:creationId xmlns:a16="http://schemas.microsoft.com/office/drawing/2014/main" id="{AAD79AB8-2F80-4EA0-8159-DD15B690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48050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5BF439-15D4-4F52-9D35-532EEDB6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$1B</a:t>
            </a:r>
          </a:p>
        </p:txBody>
      </p:sp>
      <p:sp>
        <p:nvSpPr>
          <p:cNvPr id="32" name="sensitivity-1-1">
            <a:extLst xmlns:a="http://schemas.openxmlformats.org/drawingml/2006/main">
              <a:ext uri="{FF2B5EF4-FFF2-40B4-BE49-F238E27FC236}">
                <a16:creationId xmlns:a16="http://schemas.microsoft.com/office/drawing/2014/main" id="{DA89BAB7-18A6-49D1-A4BC-0D7B9AC2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480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828F2-97CD-480C-AC61-19284DEE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576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$1M</a:t>
            </a:r>
          </a:p>
        </p:txBody>
      </p:sp>
      <p:sp>
        <p:nvSpPr>
          <p:cNvPr id="34" name="sensitivity-1-2">
            <a:extLst xmlns:a="http://schemas.openxmlformats.org/drawingml/2006/main">
              <a:ext uri="{FF2B5EF4-FFF2-40B4-BE49-F238E27FC236}">
                <a16:creationId xmlns:a16="http://schemas.microsoft.com/office/drawing/2014/main" id="{426FFBB7-0479-4477-B7FA-BBCC4C0A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C6258-4B64-491A-888B-E5514095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576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$2M</a:t>
            </a:r>
          </a:p>
        </p:txBody>
      </p:sp>
      <p:sp>
        <p:nvSpPr>
          <p:cNvPr id="36" name="sensitivity-1-3">
            <a:extLst xmlns:a="http://schemas.openxmlformats.org/drawingml/2006/main">
              <a:ext uri="{FF2B5EF4-FFF2-40B4-BE49-F238E27FC236}">
                <a16:creationId xmlns:a16="http://schemas.microsoft.com/office/drawing/2014/main" id="{59E451B6-CC4E-4090-9467-0430AC95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52C420-84D9-4F07-A762-72F3AE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576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$5M</a:t>
            </a:r>
          </a:p>
        </p:txBody>
      </p:sp>
      <p:sp>
        <p:nvSpPr>
          <p:cNvPr id="38" name="sensitivity-2-0">
            <a:extLst xmlns:a="http://schemas.openxmlformats.org/drawingml/2006/main">
              <a:ext uri="{FF2B5EF4-FFF2-40B4-BE49-F238E27FC236}">
                <a16:creationId xmlns:a16="http://schemas.microsoft.com/office/drawing/2014/main" id="{B1E132C7-6AD3-4AB4-B74B-6E19349B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5292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A84C90-A938-416A-81CB-046178B0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62475"/>
            <a:ext cx="1962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$10B</a:t>
            </a:r>
          </a:p>
        </p:txBody>
      </p:sp>
      <p:sp>
        <p:nvSpPr>
          <p:cNvPr id="40" name="sensitivity-2-1">
            <a:extLst xmlns:a="http://schemas.openxmlformats.org/drawingml/2006/main">
              <a:ext uri="{FF2B5EF4-FFF2-40B4-BE49-F238E27FC236}">
                <a16:creationId xmlns:a16="http://schemas.microsoft.com/office/drawing/2014/main" id="{AD2E27F6-FB2A-4CAE-9EE6-D9468B90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35292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52E17A-4192-4E83-B0D4-5B509E51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56247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$10M</a:t>
            </a:r>
          </a:p>
        </p:txBody>
      </p:sp>
      <p:sp>
        <p:nvSpPr>
          <p:cNvPr id="42" name="sensitivity-2-2">
            <a:extLst xmlns:a="http://schemas.openxmlformats.org/drawingml/2006/main">
              <a:ext uri="{FF2B5EF4-FFF2-40B4-BE49-F238E27FC236}">
                <a16:creationId xmlns:a16="http://schemas.microsoft.com/office/drawing/2014/main" id="{3C46098C-1AA5-499A-AD5C-FBBE2647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35292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3CDC42-1688-4647-A88C-F58530C8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6247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$20M</a:t>
            </a:r>
          </a:p>
        </p:txBody>
      </p:sp>
      <p:sp>
        <p:nvSpPr>
          <p:cNvPr id="44" name="sensitivity-2-3">
            <a:extLst xmlns:a="http://schemas.openxmlformats.org/drawingml/2006/main">
              <a:ext uri="{FF2B5EF4-FFF2-40B4-BE49-F238E27FC236}">
                <a16:creationId xmlns:a16="http://schemas.microsoft.com/office/drawing/2014/main" id="{326B3C0C-F3D5-4402-B1E9-67BB1A76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52925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4CE5A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716F39-7EFC-4B51-A07F-37FF389B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62475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$50M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0ECFF0-83EE-41A7-93C2-04FE5821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67350"/>
            <a:ext cx="802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A $10B eligible-GMV network at a 20 bps realized take rate produces $20M of gross transaction revenue before costs.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6A4B1B-0CA5-4CB5-B648-963253E5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7063F8-C6E6-4C98-88F1-51CCDED9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Illustrative arithmetic only · $100M/$1B/$10B × 0.10%/0.20%/0.50% · not a forecast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7E546C-9958-4EE7-AB84-309DF1F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370717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F56330B4-6AD2-41CF-9D7E-5AA6931A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8D70EBD8-BEDB-4573-8F57-08D64DDA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4-marker">
            <a:extLst xmlns:a="http://schemas.openxmlformats.org/drawingml/2006/main">
              <a:ext uri="{FF2B5EF4-FFF2-40B4-BE49-F238E27FC236}">
                <a16:creationId xmlns:a16="http://schemas.microsoft.com/office/drawing/2014/main" id="{51AC7ECA-71F5-41E9-BEE7-F289A8EB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4-label">
            <a:extLst xmlns:a="http://schemas.openxmlformats.org/drawingml/2006/main">
              <a:ext uri="{FF2B5EF4-FFF2-40B4-BE49-F238E27FC236}">
                <a16:creationId xmlns:a16="http://schemas.microsoft.com/office/drawing/2014/main" id="{4DDA2A52-5840-4F21-BCD9-66CFC1CE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LIVE ECONOMICS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D5AFC-B647-4F11-ADB2-0B31E52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HivemindOS already earns when agents transact.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3C444-28E8-424B-974F-25D7B12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Deterministic platform and builder fees are separate from provider fees and gross volume.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C3EE4-7BC1-44EE-85FA-9AD4A04A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859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321B9-5393-493A-AB31-A6BF80F7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0.20%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F6CFF-F72D-435A-BDCC-2EC6DB01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0025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DEX swaps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E60FE-450B-41BF-A2E5-D9897C1E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286000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live platform fee · 20 bps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49C46-96B5-47C0-8963-05ADF86B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5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DDE86-D6E4-4775-AC85-74ABE99A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ABB767-B572-4A6A-8798-181C793D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0.10%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402E6-9D36-4AF3-8E97-34EE6A36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6702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Supported live stocks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DA12B-4FE4-4649-B860-8FCE1D9B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152775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xStocks · Robinhood Chain · Alpaca live · Robinhood Agentic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45E53-882E-4B93-8FC2-0D83A5F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0A7AD5-8217-47D3-A222-5E0AA7A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2CBDBA-5574-44C2-BA75-EF64D361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8617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0.50%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71C61B-52B2-4DA6-8D35-CCBCFB75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73380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Paid x402 + Veil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EB88C6-9AB2-41F6-99C5-68AEFC31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019550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paid API and private-payment execution · 50 bps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C4EEC-6338-4993-8009-11FF6BDC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2912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ADE5C-8AD2-4C88-B6D9-97756E95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9D75A9-9834-4F2F-9B57-CB86B34C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0.005%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93B64-0870-4037-A242-3F0CF4BD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60057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Hyperliquid perps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5B1387-129D-4A77-B35F-DB7B158A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886325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eligible filled notional after wallet approval · 0.5 bps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55355-D395-4BD0-A4D7-C53AF745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95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base-builder-panel">
            <a:extLst xmlns:a="http://schemas.openxmlformats.org/drawingml/2006/main">
              <a:ext uri="{FF2B5EF4-FFF2-40B4-BE49-F238E27FC236}">
                <a16:creationId xmlns:a16="http://schemas.microsoft.com/office/drawing/2014/main" id="{3B027D8C-BB17-4E1A-A309-D082476F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2197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8B78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064A71-3E33-4539-A3CD-6C3188C8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88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BASE BUILDER CODE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ABC20-05B4-4E65-A987-0998DA3C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4191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Live attribution.</a:t>
            </a:r>
          </a:p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1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Contingent upside.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72ED97-2E03-4407-B4A4-0946A102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Official Base x402 routes carry HivemindOS Builder Code attribution. This can support rewards, analytics, and discovery—but it is not a contractual percentage fee and revenue is recognized only when earned.</a:t>
            </a:r>
          </a:p>
        </p:txBody>
      </p:sp>
      <p:sp>
        <p:nvSpPr>
          <p:cNvPr id="31" name="fee-boundaries">
            <a:extLst xmlns:a="http://schemas.openxmlformats.org/drawingml/2006/main">
              <a:ext uri="{FF2B5EF4-FFF2-40B4-BE49-F238E27FC236}">
                <a16:creationId xmlns:a16="http://schemas.microsoft.com/office/drawing/2014/main" id="{57435ED7-0447-4876-B48D-7E9E45C2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33875"/>
            <a:ext cx="52197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5DA515-84EE-4524-BC3E-6513A6B3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529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FEE BOUNDARIES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912FEE-BEA5-4287-A3C3-1D95D194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67275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$0.01 minimum · $10 maximum where platform fee applies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B3146A-F0E9-4DB5-B4F2-B9C6F5C0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428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0% ordinary wallet sends   ·   0% outside company revenue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D16BE2-23BE-4010-A510-B8A4E992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DCA6AE-1768-4058-858B-F56F4672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Sources: live HivemindOS fee + Hyperliquid builder policies; Base Builder Code configuration · 12 Jul 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6BF3FC-97F8-46B8-A6A4-DFF6A22F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707176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585197D2-6858-4648-B23E-49607E68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726B61F7-5DD5-4EE8-B99F-8C933688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5-marker">
            <a:extLst xmlns:a="http://schemas.openxmlformats.org/drawingml/2006/main">
              <a:ext uri="{FF2B5EF4-FFF2-40B4-BE49-F238E27FC236}">
                <a16:creationId xmlns:a16="http://schemas.microsoft.com/office/drawing/2014/main" id="{EF710080-CC89-4A2A-BD70-71237720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5-label">
            <a:extLst xmlns:a="http://schemas.openxmlformats.org/drawingml/2006/main">
              <a:ext uri="{FF2B5EF4-FFF2-40B4-BE49-F238E27FC236}">
                <a16:creationId xmlns:a16="http://schemas.microsoft.com/office/drawing/2014/main" id="{15EB8A6F-BCED-464D-B3E8-F54AE29C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EXPANSION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E17EE-4950-4F4C-8726-729136F5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The current product surface is larger than the current fee surface.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1683E5-94D6-4BF2-827E-E208808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Capability is not counted as HivemindOS revenue until the economics are enforceable and measurable.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30586-B07A-448F-92F1-9490F8D7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3078D-81AF-4205-8A22-8F5FC37F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2880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ECONOMICS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6EF55-282B-43B2-8B41-C89D19E0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2880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CREDIBLE MONETIZATION UNLOCK</a:t>
            </a:r>
          </a:p>
        </p:txBody>
      </p:sp>
      <p:sp>
        <p:nvSpPr>
          <p:cNvPr id="10" name="frontier-220">
            <a:extLst xmlns:a="http://schemas.openxmlformats.org/drawingml/2006/main">
              <a:ext uri="{FF2B5EF4-FFF2-40B4-BE49-F238E27FC236}">
                <a16:creationId xmlns:a16="http://schemas.microsoft.com/office/drawing/2014/main" id="{ABE70E0B-C488-4E17-B410-EAC12618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346A7-F352-4B8C-81F2-FDC6F9B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F0CED-7021-4147-A594-271F6787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2762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Bankr agent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EB8E7-369C-42CC-9F2B-965CEB5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47900"/>
            <a:ext cx="3143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Swaps, bridges, perps, Polymarket, NFTs, token launches, automations; provider fees may apply.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0E769-7790-4DEC-9DC7-7C56F733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47900"/>
            <a:ext cx="3619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Hosted routing, partner economics, or verifiable settlement before a HivemindOS fee is claimed.</a:t>
            </a:r>
          </a:p>
        </p:txBody>
      </p:sp>
      <p:sp>
        <p:nvSpPr>
          <p:cNvPr id="15" name="frontier-312">
            <a:extLst xmlns:a="http://schemas.openxmlformats.org/drawingml/2006/main">
              <a:ext uri="{FF2B5EF4-FFF2-40B4-BE49-F238E27FC236}">
                <a16:creationId xmlns:a16="http://schemas.microsoft.com/office/drawing/2014/main" id="{4D59E721-8C33-4466-AA86-0BB76D78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D3F7A-1612-4429-AD27-EE373FE6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D8FD12-F58E-499C-A469-1F288393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762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0x-routed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812C18-9517-4367-A01C-A600E33D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24200"/>
            <a:ext cx="3143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Current Robinhood Chain trades use the separate official 0.10% execution fee.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D376A-B701-41E1-BA8A-E71B02F9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24200"/>
            <a:ext cx="3619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Embedded affiliate fees and eligible trade-surplus economics are additional integration options.</a:t>
            </a:r>
          </a:p>
        </p:txBody>
      </p:sp>
      <p:sp>
        <p:nvSpPr>
          <p:cNvPr id="20" name="frontier-404">
            <a:extLst xmlns:a="http://schemas.openxmlformats.org/drawingml/2006/main">
              <a:ext uri="{FF2B5EF4-FFF2-40B4-BE49-F238E27FC236}">
                <a16:creationId xmlns:a16="http://schemas.microsoft.com/office/drawing/2014/main" id="{03BCDCDA-8803-4C7C-B9FE-DE9FC4C0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8F0B-4EFF-4E58-916D-4BA6F8D6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FB3F86-43AD-4434-B045-AC9AD9AE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19550"/>
            <a:ext cx="2762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Broader Base activity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B8BD9E-5C06-4BB5-99AF-A7C3AE52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00500"/>
            <a:ext cx="3143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Builder Code is live on official Base x402 seller/client paths—not every Base transaction.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69BDEF-F098-429B-BD6E-9718600B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3619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Attach verified attribution to more compatible official transaction paths and recognize rewards only when earned.</a:t>
            </a:r>
          </a:p>
        </p:txBody>
      </p:sp>
      <p:sp>
        <p:nvSpPr>
          <p:cNvPr id="25" name="frontier-496">
            <a:extLst xmlns:a="http://schemas.openxmlformats.org/drawingml/2006/main">
              <a:ext uri="{FF2B5EF4-FFF2-40B4-BE49-F238E27FC236}">
                <a16:creationId xmlns:a16="http://schemas.microsoft.com/office/drawing/2014/main" id="{2E6646AE-299C-4C16-A718-4EB1038B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4FF6DA-27E0-428A-9512-749D8E72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A29791-5462-4AF2-B2B4-1C2B2EE7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95850"/>
            <a:ext cx="2762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Marketplaces + partners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7F6E73-8451-460A-96F3-F1A83251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76800"/>
            <a:ext cx="3143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No platform GMV is assumed before retained buyer demand and real supplier liquidity.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0CD401-510F-497A-95A4-61EF33C1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76800"/>
            <a:ext cx="3619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Server-enforced marketplace take rates, provider rebates, and workflow commissions after demand is proven.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3CF829-D0E2-4B61-811C-54375F35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This keeps the upside ambitious without counting the same transaction twice—or presenting provider volume as company revenue.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D61677-3EF7-44B4-A130-8D45853D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320D34-65F4-4139-BE84-DBDEF115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Sources: HivemindOS capability router and user docs; Base Builder Code docs; 0x monetization docs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616DDC-7C0C-429A-B405-0EDEE29E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3707176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build-background">
            <a:extLst xmlns:a="http://schemas.openxmlformats.org/drawingml/2006/main">
              <a:ext uri="{FF2B5EF4-FFF2-40B4-BE49-F238E27FC236}">
                <a16:creationId xmlns:a16="http://schemas.microsoft.com/office/drawing/2014/main" id="{DBDC5156-DD6F-4EF7-931A-08B56000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ebuild-circle">
            <a:extLst xmlns:a="http://schemas.openxmlformats.org/drawingml/2006/main">
              <a:ext uri="{FF2B5EF4-FFF2-40B4-BE49-F238E27FC236}">
                <a16:creationId xmlns:a16="http://schemas.microsoft.com/office/drawing/2014/main" id="{03F6602F-49F4-4C50-803F-15486E3C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6-marker">
            <a:extLst xmlns:a="http://schemas.openxmlformats.org/drawingml/2006/main">
              <a:ext uri="{FF2B5EF4-FFF2-40B4-BE49-F238E27FC236}">
                <a16:creationId xmlns:a16="http://schemas.microsoft.com/office/drawing/2014/main" id="{674C5B81-4D44-4408-B007-AAB8F0DC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6-label">
            <a:extLst xmlns:a="http://schemas.openxmlformats.org/drawingml/2006/main">
              <a:ext uri="{FF2B5EF4-FFF2-40B4-BE49-F238E27FC236}">
                <a16:creationId xmlns:a16="http://schemas.microsoft.com/office/drawing/2014/main" id="{7D954124-31CB-41D8-944A-480879D3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885FC-F494-4D32-81FF-6963CEF9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4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Seed capital proves the operating wedge—and captures the transaction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0ABD94-D6AB-49A1-8C67-23C66107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product is already open, local-first, and operating. Capital should prove retained demand, then scale the fee-bearing economic activity created by those agents.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82F92-19B4-43EE-8E58-77D71F01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57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75E77-AA33-43A0-BD8E-A668D5FB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9D03E-83AA-48EF-8F30-8FE5D40B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 ACTIVATION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97F25-1E13-4ADD-BD78-58EE4E50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Prove the recurring floor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B49B47-3257-45D7-9C5B-5672E13F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95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Sell the Managed Agent Operations Pilot; identify the repeatable first paid moment and validate willingness to pay.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D2988-4C62-4127-A395-A043486E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457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14CBF-E872-431E-B328-3D20C99B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6225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72093-7778-44E0-9D44-3B75E443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RETENTION + MARGIN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A335D-B0BE-490F-B112-94726764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099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Turn pilots into durable Cloud revenue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34348-D519-4429-99AA-E37FE5BB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295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Convert successful pilots into Pro, Team, and Enterprise relationships with positive contribution margin.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6145C-0EEC-4E46-BEE1-E58BE077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457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AD89C0-0F02-4FDE-8141-4977A8AD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62250"/>
            <a:ext cx="304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89FD2A-D2B5-44C3-9E9A-F93DB657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480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TRANSACTION EXPANSION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514733-F3C3-4932-8DFA-6C7C46E1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Compound fee-bearing agent GMV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2A3335-D343-43E4-B312-981E08C8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95750"/>
            <a:ext cx="295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Increase successful trading, payment, and paid-service activity while protecting execution quality and trust.</a:t>
            </a:r>
          </a:p>
        </p:txBody>
      </p:sp>
      <p:sp>
        <p:nvSpPr>
          <p:cNvPr id="22" name="ask-outcome-band">
            <a:extLst xmlns:a="http://schemas.openxmlformats.org/drawingml/2006/main">
              <a:ext uri="{FF2B5EF4-FFF2-40B4-BE49-F238E27FC236}">
                <a16:creationId xmlns:a16="http://schemas.microsoft.com/office/drawing/2014/main" id="{36D48C8D-6BE8-4E5A-A2FA-2A33AC0D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C0E929-9264-4B49-9E14-7E86BBD7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35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OPERATING PROOF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6DE58-4EA0-4AE5-9469-05B1F9A8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626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retained paid agents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97CA28-1CE0-4512-AF49-51284633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58165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F029B-7781-4744-A13C-80F74767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5435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ECONOMIC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A86A64-CBE9-4CEB-A919-0A62C1B7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6262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fee-bearing GMV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022FF0-17D0-4727-8563-2F444F1E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65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=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862203-DE6A-428B-85DB-5252885A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00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AGENT ECONOMY CONTROL PLANE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CEF264-146B-41F8-8CF7-46466180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23C92C-FEFE-4528-95F3-80457063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 · building the operating layer where agent fleets become accountable economic actors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2DB5CD-7351-44A8-8BF9-AEF9FD20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342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472246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2026-07-12T09:03:45.6340000Z</dcterms:created>
  <dcterms:modified xsi:type="dcterms:W3CDTF">2026-07-12T09:03:45.6340000Z</dcterms:modified>
</coreProperties>
</file>